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95EE79-BC9F-3A49-EE3D-FD798B31C129}" v="92" dt="2026-10-19T07:51:54.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F2933"/>
                </a:solidFill>
                <a:latin typeface="Calibri"/>
              </a:rPr>
              <a:t>Mean CV macro-F1 (axis starts at 0.95)</a:t>
            </a:r>
          </a:p>
        </c:rich>
      </c:tx>
      <c:overlay val="0"/>
    </c:title>
    <c:autoTitleDeleted val="0"/>
    <c:plotArea>
      <c:layout/>
      <c:barChart>
        <c:barDir val="col"/>
        <c:grouping val="clustered"/>
        <c:varyColors val="1"/>
        <c:ser>
          <c:idx val="0"/>
          <c:order val="0"/>
          <c:tx>
            <c:strRef>
              <c:f>Sheet1!$B$1</c:f>
              <c:strCache>
                <c:ptCount val="1"/>
                <c:pt idx="0">
                  <c:v>Mean CV macro-F1</c:v>
                </c:pt>
              </c:strCache>
            </c:strRef>
          </c:tx>
          <c:invertIfNegative val="1"/>
          <c:dPt>
            <c:idx val="0"/>
            <c:invertIfNegative val="1"/>
            <c:bubble3D val="0"/>
            <c:spPr>
              <a:solidFill>
                <a:srgbClr val="E9A23B"/>
              </a:solidFill>
            </c:spPr>
            <c:extLst>
              <c:ext xmlns:c16="http://schemas.microsoft.com/office/drawing/2014/chart" uri="{C3380CC4-5D6E-409C-BE32-E72D297353CC}">
                <c16:uniqueId val="{00000001-069B-45BA-9169-D60F704CC280}"/>
              </c:ext>
            </c:extLst>
          </c:dPt>
          <c:dPt>
            <c:idx val="1"/>
            <c:invertIfNegative val="1"/>
            <c:bubble3D val="0"/>
            <c:spPr>
              <a:solidFill>
                <a:srgbClr val="8FA3BF"/>
              </a:solidFill>
            </c:spPr>
            <c:extLst>
              <c:ext xmlns:c16="http://schemas.microsoft.com/office/drawing/2014/chart" uri="{C3380CC4-5D6E-409C-BE32-E72D297353CC}">
                <c16:uniqueId val="{00000003-069B-45BA-9169-D60F704CC280}"/>
              </c:ext>
            </c:extLst>
          </c:dPt>
          <c:dPt>
            <c:idx val="2"/>
            <c:invertIfNegative val="1"/>
            <c:bubble3D val="0"/>
            <c:spPr>
              <a:solidFill>
                <a:srgbClr val="8FA3BF"/>
              </a:solidFill>
            </c:spPr>
            <c:extLst>
              <c:ext xmlns:c16="http://schemas.microsoft.com/office/drawing/2014/chart" uri="{C3380CC4-5D6E-409C-BE32-E72D297353CC}">
                <c16:uniqueId val="{00000005-069B-45BA-9169-D60F704CC280}"/>
              </c:ext>
            </c:extLst>
          </c:dPt>
          <c:dPt>
            <c:idx val="3"/>
            <c:invertIfNegative val="1"/>
            <c:bubble3D val="0"/>
            <c:spPr>
              <a:solidFill>
                <a:srgbClr val="8FA3BF"/>
              </a:solidFill>
            </c:spPr>
            <c:extLst>
              <c:ext xmlns:c16="http://schemas.microsoft.com/office/drawing/2014/chart" uri="{C3380CC4-5D6E-409C-BE32-E72D297353CC}">
                <c16:uniqueId val="{00000007-069B-45BA-9169-D60F704CC280}"/>
              </c:ext>
            </c:extLst>
          </c:dPt>
          <c:dPt>
            <c:idx val="4"/>
            <c:invertIfNegative val="1"/>
            <c:bubble3D val="0"/>
            <c:spPr>
              <a:solidFill>
                <a:srgbClr val="8FA3BF"/>
              </a:solidFill>
            </c:spPr>
            <c:extLst>
              <c:ext xmlns:c16="http://schemas.microsoft.com/office/drawing/2014/chart" uri="{C3380CC4-5D6E-409C-BE32-E72D297353CC}">
                <c16:uniqueId val="{00000009-069B-45BA-9169-D60F704CC280}"/>
              </c:ext>
            </c:extLst>
          </c:dPt>
          <c:dLbls>
            <c:numFmt formatCode="0.000" sourceLinked="0"/>
            <c:spPr>
              <a:noFill/>
              <a:ln>
                <a:noFill/>
              </a:ln>
              <a:effectLst/>
            </c:spPr>
            <c:txPr>
              <a:bodyPr/>
              <a:lstStyle/>
              <a:p>
                <a:pPr>
                  <a:defRPr sz="1200" b="1">
                    <a:solidFill>
                      <a:srgbClr val="1F2933"/>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DenseNet-121</c:v>
                </c:pt>
                <c:pt idx="1">
                  <c:v>ResNet-18</c:v>
                </c:pt>
                <c:pt idx="2">
                  <c:v>ResNet-101</c:v>
                </c:pt>
                <c:pt idx="3">
                  <c:v>EfficientNet-B0</c:v>
                </c:pt>
                <c:pt idx="4">
                  <c:v>ResNet-50</c:v>
                </c:pt>
              </c:strCache>
            </c:strRef>
          </c:cat>
          <c:val>
            <c:numRef>
              <c:f>Sheet1!$B$2:$B$6</c:f>
              <c:numCache>
                <c:formatCode>General</c:formatCode>
                <c:ptCount val="5"/>
                <c:pt idx="0">
                  <c:v>0.99209999999999998</c:v>
                </c:pt>
                <c:pt idx="1">
                  <c:v>0.99199999999999999</c:v>
                </c:pt>
                <c:pt idx="2">
                  <c:v>0.9919</c:v>
                </c:pt>
                <c:pt idx="3">
                  <c:v>0.98429999999999995</c:v>
                </c:pt>
                <c:pt idx="4">
                  <c:v>0.98409999999999997</c:v>
                </c:pt>
              </c:numCache>
            </c:numRef>
          </c:val>
          <c:extLst>
            <c:ext xmlns:c16="http://schemas.microsoft.com/office/drawing/2014/chart" uri="{C3380CC4-5D6E-409C-BE32-E72D297353CC}">
              <c16:uniqueId val="{0000000A-069B-45BA-9169-D60F704CC28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4"/>
            </a:solidFill>
          </a:ln>
        </c:spPr>
        <c:txPr>
          <a:bodyPr/>
          <a:lstStyle/>
          <a:p>
            <a:pPr>
              <a:defRPr sz="1200">
                <a:solidFill>
                  <a:srgbClr val="5B6573"/>
                </a:solidFill>
                <a:latin typeface="Calibri"/>
              </a:defRPr>
            </a:pPr>
            <a:endParaRPr lang="en-US"/>
          </a:p>
        </c:txPr>
        <c:crossAx val="-2113994440"/>
        <c:crosses val="autoZero"/>
        <c:auto val="1"/>
        <c:lblAlgn val="ctr"/>
        <c:lblOffset val="100"/>
        <c:noMultiLvlLbl val="0"/>
      </c:catAx>
      <c:valAx>
        <c:axId val="-2113994440"/>
        <c:scaling>
          <c:orientation val="minMax"/>
          <c:max val="1"/>
          <c:min val="0.95"/>
        </c:scaling>
        <c:delete val="0"/>
        <c:axPos val="l"/>
        <c:majorGridlines>
          <c:spPr>
            <a:ln>
              <a:solidFill>
                <a:srgbClr val="D9DEE4"/>
              </a:solidFill>
            </a:ln>
          </c:spPr>
        </c:majorGridlines>
        <c:numFmt formatCode="0.00" sourceLinked="0"/>
        <c:majorTickMark val="out"/>
        <c:minorTickMark val="none"/>
        <c:tickLblPos val="nextTo"/>
        <c:spPr>
          <a:ln>
            <a:noFill/>
          </a:ln>
        </c:spPr>
        <c:txPr>
          <a:bodyPr/>
          <a:lstStyle/>
          <a:p>
            <a:pPr>
              <a:defRPr sz="1200">
                <a:solidFill>
                  <a:srgbClr val="5B6573"/>
                </a:solidFill>
                <a:latin typeface="Calibri"/>
              </a:defRPr>
            </a:pPr>
            <a:endParaRPr lang="en-US"/>
          </a:p>
        </c:txPr>
        <c:crossAx val="-2068027336"/>
        <c:crosses val="autoZero"/>
        <c:crossBetween val="between"/>
        <c:majorUnit val="0.01"/>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884968-F33E-479E-8560-6A72D34DC0BD}" type="datetimeFigureOut">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C86D0F-41CF-466A-B7BB-4917C09D18A3}" type="slidenum">
              <a:t>‹#›</a:t>
            </a:fld>
            <a:endParaRPr lang="en-US"/>
          </a:p>
        </p:txBody>
      </p:sp>
    </p:spTree>
    <p:extLst>
      <p:ext uri="{BB962C8B-B14F-4D97-AF65-F5344CB8AC3E}">
        <p14:creationId xmlns:p14="http://schemas.microsoft.com/office/powerpoint/2010/main" val="2908830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project builds a classifier that tells which imaging modality a retinal image is: fundus autofluorescence (FAF), infrared reflectance (IR), or anything else (OTHER). I compared five ImageNet-pretrained CNNs with 5-fold cross-validation, tested the selected model once on a held-out set, and used Grad-CAM to check what the model looks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numbers summarise the work. The best cross-validated model, DenseNet-121, reached 99.2% macro-F1. Retrained on all 253 training images, it classified all 55 held-out test images correctly. All five architectures were above 98.4%, so the task is easy for pretrained CNNs. The caveat: 3 test images are byte-identical to training images. Removing them still leaves 52 of 52 correct.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classes. FAF: fundus autofluorescence, greyscale, with a dark optic disc and macula. IR: infrared reflectance from the scanning laser ophthalmoscope, greyscale, with a bright disc. OTHER: everything else, mainly colour fundus photos plus fluorescein angiography and montages. The training set is balanced (82–87 per class) and is used for cross-validation. The 55-image test set was set aside and used once, at the end.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Preprocessing: each image is resized so its longer side is 330 pixels and padded to a square. A circular mask then blacks out everything outside the central circle, so every image has the same round field of view and the frame shape cannot reveal the class. Augmentation: horizontal flip, rotation up to 7 degrees, brightness and contrast jitter. Training: ImageNet weights, AdamW, learning rate 1e-4, batch 8, cross-entropy weighted by inverse class frequency. Model selection: identical stratified 5-fold splits for every model, early stopping on validation macro-F1. Final model: retrained on all training data for the median best epoch (3 for DenseNet-121), then evaluated once on the test set.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Cross-validated results for all five models. Each fold validates on about 50 images, so one error costs about 2 percentage points. DenseNet-121, ResNet-18 and ResNet-101 each made 2 errors out of 253; EfficientNet-B0 and ResNet-50 made 4. The top three are effectively tied (they differ by less than 0.001 in macro-F1). DenseNet-121 was selected by the pre-set rule, highest mean CV macro-F1. Note that the chart's axis starts at 0.95.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Loss and accuracy per epoch, averaged over the five CV folds; dashed lines are training, solid lines validation. Every model converges within about 3 to 5 epochs. Validation loss stays low and does not rise sharply, so there is no strong overfitting. Early stopping ended most folds between epochs 1 and 7. Curves become noisier after epoch 10 because only the few folds that ran that long are averaged.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DenseNet-121, retrained on all 253 training images for 3 epochs, then run once on the 55 held-out images. All 55 are correct: precision, recall and F1 are 1.000 for every class. With only 55 test images, the exact 95% confidence interval for accuracy is 93.5% to 100%. Three test images are exact copies of training images; the remaining 52 are also all correct.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Grad-CAM shows which parts of the image pushed the model towards its prediction. We take the last convolutional feature maps of DenseNet-121, about 10 by 10 at this input size, and the gradient of the predicted class score with respect to them. Each map is weighted by its average gradient; the weighted sum, with negatives set to zero, is upsampled to the image size. Red means the region increased the predicted class score; blue means little contribution. The map is coarse: it shows regions, not single vessels or pixels.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FAF the heatmaps sit on clinically meaningful structures: the dark optic disc, the macula, and areas of atrophy or hyper-autofluorescence. This is the behaviour we want.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important Grad-CAM finding. For IR the evidence is almost entirely on the outer ring of the image, not on the retina. Accuracy is still 100%, but the model may be recognising a device-specific edge pattern, which may not hold for IR images from another machine. A border-occlusion or tighter-mask experiment would show whether accuracy depends on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OTHER is a mixed class. Colour fundus photos are the only colour images, so they are trivially separable. For angiography and montage images the heat forms a rectangle, which suggests the model partly uses image shape and framing.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Limitations, most important first. 1: A hash check found 3 test images that are byte-identical to training images (0003_AF_B-1_0, A05_2 and A06_2), and 18 duplicate copies inside the training set, so CV folds can contain the same image in train and validation. Excluding the 3, the test result is still 52 of 52. 2: The split is image-level because there are no patient IDs, so the same eye can appear in both train and test. 3: 55 test images give a wide confidence interval. 4: the Grad-CAM shortcut concerns. 5: the from-scratch comparison has not been run.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Proposed next steps. Remove duplicates with a hash check and, if patient IDs can be recovered, split by patient. Re-run cross-validation and the test. Then test the IR shortcut directly. Finally, run the from-scratch baseline and, ideally, validate on images from another site or device.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original image and Grad-CAM overlay for every FAF test image. All predictions are correct; the label shows the predicted class and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original image and Grad-CAM overlay for every FAF test image. All predictions are correct; the label shows the predicted class and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original image and Grad-CAM overlay for every IR test image. All predictions are correct; the label shows the predicted class and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original image and Grad-CAM overlay for every IR test image. All predictions are correct; the label shows the predicted class and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original image and Grad-CAM overlay for every OTHER test image. All predictions are correct; the label shows the predicted class and confidence.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original image and Grad-CAM overlay for every OTHER test image. All predictions are correct; the label shows the predicted class and confidence.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9.png"/><Relationship Id="rId21" Type="http://schemas.openxmlformats.org/officeDocument/2006/relationships/image" Target="../media/image35.png"/><Relationship Id="rId7" Type="http://schemas.openxmlformats.org/officeDocument/2006/relationships/image" Target="../media/image23.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4.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5.png"/><Relationship Id="rId24" Type="http://schemas.openxmlformats.org/officeDocument/2006/relationships/image" Target="../media/image38.png"/><Relationship Id="rId5" Type="http://schemas.openxmlformats.org/officeDocument/2006/relationships/image" Target="../media/image21.png"/><Relationship Id="rId15" Type="http://schemas.openxmlformats.org/officeDocument/2006/relationships/image" Target="../media/image29.png"/><Relationship Id="rId23" Type="http://schemas.openxmlformats.org/officeDocument/2006/relationships/image" Target="../media/image37.png"/><Relationship Id="rId10" Type="http://schemas.openxmlformats.org/officeDocument/2006/relationships/image" Target="../media/image4.png"/><Relationship Id="rId19" Type="http://schemas.openxmlformats.org/officeDocument/2006/relationships/image" Target="../media/image33.png"/><Relationship Id="rId4" Type="http://schemas.openxmlformats.org/officeDocument/2006/relationships/image" Target="../media/image10.png"/><Relationship Id="rId9" Type="http://schemas.openxmlformats.org/officeDocument/2006/relationships/image" Target="../media/image1.png"/><Relationship Id="rId14" Type="http://schemas.openxmlformats.org/officeDocument/2006/relationships/image" Target="../media/image28.png"/><Relationship Id="rId22" Type="http://schemas.openxmlformats.org/officeDocument/2006/relationships/image" Target="../media/image36.png"/></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39.png"/><Relationship Id="rId21" Type="http://schemas.openxmlformats.org/officeDocument/2006/relationships/image" Target="../media/image11.png"/><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15.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47.png"/><Relationship Id="rId24" Type="http://schemas.openxmlformats.org/officeDocument/2006/relationships/image" Target="../media/image58.png"/><Relationship Id="rId5" Type="http://schemas.openxmlformats.org/officeDocument/2006/relationships/image" Target="../media/image41.png"/><Relationship Id="rId15" Type="http://schemas.openxmlformats.org/officeDocument/2006/relationships/image" Target="../media/image51.png"/><Relationship Id="rId23" Type="http://schemas.openxmlformats.org/officeDocument/2006/relationships/image" Target="../media/image57.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 Id="rId22"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3" Type="http://schemas.openxmlformats.org/officeDocument/2006/relationships/image" Target="../media/image2.png"/><Relationship Id="rId7" Type="http://schemas.openxmlformats.org/officeDocument/2006/relationships/image" Target="../media/image61.png"/><Relationship Id="rId12" Type="http://schemas.openxmlformats.org/officeDocument/2006/relationships/image" Target="../media/image66.png"/><Relationship Id="rId2" Type="http://schemas.openxmlformats.org/officeDocument/2006/relationships/notesSlide" Target="../notesSlides/notesSlide16.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13.png"/><Relationship Id="rId10" Type="http://schemas.openxmlformats.org/officeDocument/2006/relationships/image" Target="../media/image64.png"/><Relationship Id="rId4" Type="http://schemas.openxmlformats.org/officeDocument/2006/relationships/image" Target="../media/image5.png"/><Relationship Id="rId9" Type="http://schemas.openxmlformats.org/officeDocument/2006/relationships/image" Target="../media/image63.png"/><Relationship Id="rId14" Type="http://schemas.openxmlformats.org/officeDocument/2006/relationships/image" Target="../media/image68.png"/></Relationships>
</file>

<file path=ppt/slides/_rels/slide17.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7.pn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72.png"/><Relationship Id="rId11" Type="http://schemas.openxmlformats.org/officeDocument/2006/relationships/image" Target="../media/image75.png"/><Relationship Id="rId5" Type="http://schemas.openxmlformats.org/officeDocument/2006/relationships/image" Target="../media/image71.png"/><Relationship Id="rId10" Type="http://schemas.openxmlformats.org/officeDocument/2006/relationships/image" Target="../media/image16.png"/><Relationship Id="rId4" Type="http://schemas.openxmlformats.org/officeDocument/2006/relationships/image" Target="../media/image70.png"/><Relationship Id="rId9" Type="http://schemas.openxmlformats.org/officeDocument/2006/relationships/image" Target="../media/image15.png"/><Relationship Id="rId14" Type="http://schemas.openxmlformats.org/officeDocument/2006/relationships/image" Target="../media/image78.png"/></Relationships>
</file>

<file path=ppt/slides/_rels/slide18.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image" Target="../media/image3.png"/><Relationship Id="rId7" Type="http://schemas.openxmlformats.org/officeDocument/2006/relationships/image" Target="../media/image81.png"/><Relationship Id="rId12" Type="http://schemas.openxmlformats.org/officeDocument/2006/relationships/image" Target="../media/image86.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6.png"/><Relationship Id="rId9" Type="http://schemas.openxmlformats.org/officeDocument/2006/relationships/image" Target="../media/image83.png"/><Relationship Id="rId14" Type="http://schemas.openxmlformats.org/officeDocument/2006/relationships/image" Target="../media/image88.png"/></Relationships>
</file>

<file path=ppt/slides/_rels/slide19.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5.png"/><Relationship Id="rId18" Type="http://schemas.openxmlformats.org/officeDocument/2006/relationships/image" Target="../media/image100.png"/><Relationship Id="rId3" Type="http://schemas.openxmlformats.org/officeDocument/2006/relationships/image" Target="../media/image89.png"/><Relationship Id="rId21" Type="http://schemas.openxmlformats.org/officeDocument/2006/relationships/image" Target="../media/image103.png"/><Relationship Id="rId7" Type="http://schemas.openxmlformats.org/officeDocument/2006/relationships/image" Target="../media/image93.png"/><Relationship Id="rId12" Type="http://schemas.openxmlformats.org/officeDocument/2006/relationships/image" Target="../media/image20.png"/><Relationship Id="rId17" Type="http://schemas.openxmlformats.org/officeDocument/2006/relationships/image" Target="../media/image99.png"/><Relationship Id="rId2" Type="http://schemas.openxmlformats.org/officeDocument/2006/relationships/notesSlide" Target="../notesSlides/notesSlide19.xml"/><Relationship Id="rId16" Type="http://schemas.openxmlformats.org/officeDocument/2006/relationships/image" Target="../media/image98.png"/><Relationship Id="rId20" Type="http://schemas.openxmlformats.org/officeDocument/2006/relationships/image" Target="../media/image102.png"/><Relationship Id="rId1" Type="http://schemas.openxmlformats.org/officeDocument/2006/relationships/slideLayout" Target="../slideLayouts/slideLayout7.xml"/><Relationship Id="rId6" Type="http://schemas.openxmlformats.org/officeDocument/2006/relationships/image" Target="../media/image92.png"/><Relationship Id="rId11" Type="http://schemas.openxmlformats.org/officeDocument/2006/relationships/image" Target="../media/image19.png"/><Relationship Id="rId5" Type="http://schemas.openxmlformats.org/officeDocument/2006/relationships/image" Target="../media/image91.png"/><Relationship Id="rId15" Type="http://schemas.openxmlformats.org/officeDocument/2006/relationships/image" Target="../media/image97.png"/><Relationship Id="rId10" Type="http://schemas.openxmlformats.org/officeDocument/2006/relationships/image" Target="../media/image18.png"/><Relationship Id="rId19" Type="http://schemas.openxmlformats.org/officeDocument/2006/relationships/image" Target="../media/image101.png"/><Relationship Id="rId4" Type="http://schemas.openxmlformats.org/officeDocument/2006/relationships/image" Target="../media/image90.png"/><Relationship Id="rId9" Type="http://schemas.openxmlformats.org/officeDocument/2006/relationships/image" Target="../media/image17.png"/><Relationship Id="rId14" Type="http://schemas.openxmlformats.org/officeDocument/2006/relationships/image" Target="../media/image96.png"/><Relationship Id="rId22" Type="http://schemas.openxmlformats.org/officeDocument/2006/relationships/image" Target="../media/image10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p:cNvSpPr txBox="1"/>
          <p:nvPr/>
        </p:nvSpPr>
        <p:spPr>
          <a:xfrm>
            <a:off x="640080" y="1188720"/>
            <a:ext cx="6583680" cy="2194560"/>
          </a:xfrm>
          <a:prstGeom prst="rect">
            <a:avLst/>
          </a:prstGeom>
          <a:noFill/>
        </p:spPr>
        <p:txBody>
          <a:bodyPr wrap="square" lIns="0" tIns="0" rIns="0" bIns="0" anchor="b">
            <a:spAutoFit/>
          </a:bodyPr>
          <a:lstStyle/>
          <a:p>
            <a:pPr algn="l"/>
            <a:r>
              <a:rPr sz="4200" b="1" i="0">
                <a:solidFill>
                  <a:srgbClr val="FFFFFF"/>
                </a:solidFill>
                <a:latin typeface="Cambria"/>
              </a:rPr>
              <a:t>Classifying Retinal Imaging Modality with Deep Learning</a:t>
            </a:r>
          </a:p>
        </p:txBody>
      </p:sp>
      <p:pic>
        <p:nvPicPr>
          <p:cNvPr id="5" name="Picture 4" descr="0006_AF_B-0_0_orig.png"/>
          <p:cNvPicPr>
            <a:picLocks noChangeAspect="1"/>
          </p:cNvPicPr>
          <p:nvPr/>
        </p:nvPicPr>
        <p:blipFill>
          <a:blip r:embed="rId3"/>
          <a:stretch>
            <a:fillRect/>
          </a:stretch>
        </p:blipFill>
        <p:spPr>
          <a:xfrm>
            <a:off x="7543800" y="2331720"/>
            <a:ext cx="1325880" cy="1325880"/>
          </a:xfrm>
          <a:prstGeom prst="rect">
            <a:avLst/>
          </a:prstGeom>
        </p:spPr>
      </p:pic>
      <p:sp>
        <p:nvSpPr>
          <p:cNvPr id="6" name="TextBox 5"/>
          <p:cNvSpPr txBox="1"/>
          <p:nvPr/>
        </p:nvSpPr>
        <p:spPr>
          <a:xfrm>
            <a:off x="7543800" y="3712463"/>
            <a:ext cx="1325880" cy="274320"/>
          </a:xfrm>
          <a:prstGeom prst="rect">
            <a:avLst/>
          </a:prstGeom>
          <a:noFill/>
        </p:spPr>
        <p:txBody>
          <a:bodyPr wrap="square" lIns="0" tIns="0" rIns="0" bIns="0" anchor="t">
            <a:spAutoFit/>
          </a:bodyPr>
          <a:lstStyle/>
          <a:p>
            <a:pPr algn="ctr"/>
            <a:r>
              <a:rPr sz="1400" b="0" i="0">
                <a:solidFill>
                  <a:srgbClr val="E9A23B"/>
                </a:solidFill>
                <a:latin typeface="Calibri"/>
              </a:rPr>
              <a:t>FAF</a:t>
            </a:r>
          </a:p>
        </p:txBody>
      </p:sp>
      <p:pic>
        <p:nvPicPr>
          <p:cNvPr id="7" name="Picture 6" descr="0003_SLO_IR-0_0_orig.png"/>
          <p:cNvPicPr>
            <a:picLocks noChangeAspect="1"/>
          </p:cNvPicPr>
          <p:nvPr/>
        </p:nvPicPr>
        <p:blipFill>
          <a:blip r:embed="rId4"/>
          <a:stretch>
            <a:fillRect/>
          </a:stretch>
        </p:blipFill>
        <p:spPr>
          <a:xfrm>
            <a:off x="9006840" y="2331720"/>
            <a:ext cx="1325880" cy="1325880"/>
          </a:xfrm>
          <a:prstGeom prst="rect">
            <a:avLst/>
          </a:prstGeom>
        </p:spPr>
      </p:pic>
      <p:sp>
        <p:nvSpPr>
          <p:cNvPr id="8" name="TextBox 7"/>
          <p:cNvSpPr txBox="1"/>
          <p:nvPr/>
        </p:nvSpPr>
        <p:spPr>
          <a:xfrm>
            <a:off x="9006840" y="3712463"/>
            <a:ext cx="1325880" cy="274320"/>
          </a:xfrm>
          <a:prstGeom prst="rect">
            <a:avLst/>
          </a:prstGeom>
          <a:noFill/>
        </p:spPr>
        <p:txBody>
          <a:bodyPr wrap="square" lIns="0" tIns="0" rIns="0" bIns="0" anchor="t">
            <a:spAutoFit/>
          </a:bodyPr>
          <a:lstStyle/>
          <a:p>
            <a:pPr algn="ctr"/>
            <a:r>
              <a:rPr sz="1400" b="0" i="0">
                <a:solidFill>
                  <a:srgbClr val="E9A23B"/>
                </a:solidFill>
                <a:latin typeface="Calibri"/>
              </a:rPr>
              <a:t>IR</a:t>
            </a:r>
          </a:p>
        </p:txBody>
      </p:sp>
      <p:pic>
        <p:nvPicPr>
          <p:cNvPr id="9" name="Picture 8" descr="A05_1_orig.png"/>
          <p:cNvPicPr>
            <a:picLocks noChangeAspect="1"/>
          </p:cNvPicPr>
          <p:nvPr/>
        </p:nvPicPr>
        <p:blipFill>
          <a:blip r:embed="rId5"/>
          <a:stretch>
            <a:fillRect/>
          </a:stretch>
        </p:blipFill>
        <p:spPr>
          <a:xfrm>
            <a:off x="10469880" y="2331720"/>
            <a:ext cx="1325880" cy="1325880"/>
          </a:xfrm>
          <a:prstGeom prst="rect">
            <a:avLst/>
          </a:prstGeom>
        </p:spPr>
      </p:pic>
      <p:sp>
        <p:nvSpPr>
          <p:cNvPr id="10" name="TextBox 9"/>
          <p:cNvSpPr txBox="1"/>
          <p:nvPr/>
        </p:nvSpPr>
        <p:spPr>
          <a:xfrm>
            <a:off x="10469880" y="3712463"/>
            <a:ext cx="1325880" cy="274320"/>
          </a:xfrm>
          <a:prstGeom prst="rect">
            <a:avLst/>
          </a:prstGeom>
          <a:noFill/>
        </p:spPr>
        <p:txBody>
          <a:bodyPr wrap="square" lIns="0" tIns="0" rIns="0" bIns="0" anchor="t">
            <a:spAutoFit/>
          </a:bodyPr>
          <a:lstStyle/>
          <a:p>
            <a:pPr algn="ctr"/>
            <a:r>
              <a:rPr sz="1400" b="0" i="0">
                <a:solidFill>
                  <a:srgbClr val="E9A23B"/>
                </a:solidFill>
                <a:latin typeface="Calibri"/>
              </a:rPr>
              <a:t>OTHER</a:t>
            </a:r>
          </a:p>
        </p:txBody>
      </p:sp>
      <p:pic>
        <p:nvPicPr>
          <p:cNvPr id="11" name="Picture 10" descr="0006_AF_B-0_0_overlay.png"/>
          <p:cNvPicPr>
            <a:picLocks noChangeAspect="1"/>
          </p:cNvPicPr>
          <p:nvPr/>
        </p:nvPicPr>
        <p:blipFill>
          <a:blip r:embed="rId6"/>
          <a:stretch>
            <a:fillRect/>
          </a:stretch>
        </p:blipFill>
        <p:spPr>
          <a:xfrm>
            <a:off x="7543800" y="4069080"/>
            <a:ext cx="1325880" cy="1325880"/>
          </a:xfrm>
          <a:prstGeom prst="rect">
            <a:avLst/>
          </a:prstGeom>
        </p:spPr>
      </p:pic>
      <p:sp>
        <p:nvSpPr>
          <p:cNvPr id="12" name="TextBox 11"/>
          <p:cNvSpPr txBox="1"/>
          <p:nvPr/>
        </p:nvSpPr>
        <p:spPr>
          <a:xfrm>
            <a:off x="7543800" y="5449824"/>
            <a:ext cx="1325880" cy="274320"/>
          </a:xfrm>
          <a:prstGeom prst="rect">
            <a:avLst/>
          </a:prstGeom>
          <a:noFill/>
        </p:spPr>
        <p:txBody>
          <a:bodyPr wrap="square" lIns="0" tIns="0" rIns="0" bIns="0" anchor="t">
            <a:spAutoFit/>
          </a:bodyPr>
          <a:lstStyle/>
          <a:p>
            <a:pPr algn="ctr"/>
            <a:r>
              <a:rPr sz="1200" b="0" i="0">
                <a:solidFill>
                  <a:srgbClr val="9AA8BD"/>
                </a:solidFill>
                <a:latin typeface="Calibri"/>
              </a:rPr>
              <a:t>Grad-CAM</a:t>
            </a:r>
          </a:p>
        </p:txBody>
      </p:sp>
      <p:pic>
        <p:nvPicPr>
          <p:cNvPr id="13" name="Picture 12" descr="0003_SLO_IR-0_0_overlay.png"/>
          <p:cNvPicPr>
            <a:picLocks noChangeAspect="1"/>
          </p:cNvPicPr>
          <p:nvPr/>
        </p:nvPicPr>
        <p:blipFill>
          <a:blip r:embed="rId7"/>
          <a:stretch>
            <a:fillRect/>
          </a:stretch>
        </p:blipFill>
        <p:spPr>
          <a:xfrm>
            <a:off x="9006840" y="4069080"/>
            <a:ext cx="1325880" cy="1325880"/>
          </a:xfrm>
          <a:prstGeom prst="rect">
            <a:avLst/>
          </a:prstGeom>
        </p:spPr>
      </p:pic>
      <p:sp>
        <p:nvSpPr>
          <p:cNvPr id="14" name="TextBox 13"/>
          <p:cNvSpPr txBox="1"/>
          <p:nvPr/>
        </p:nvSpPr>
        <p:spPr>
          <a:xfrm>
            <a:off x="9006840" y="5449824"/>
            <a:ext cx="1325880" cy="274320"/>
          </a:xfrm>
          <a:prstGeom prst="rect">
            <a:avLst/>
          </a:prstGeom>
          <a:noFill/>
        </p:spPr>
        <p:txBody>
          <a:bodyPr wrap="square" lIns="0" tIns="0" rIns="0" bIns="0" anchor="t">
            <a:spAutoFit/>
          </a:bodyPr>
          <a:lstStyle/>
          <a:p>
            <a:pPr algn="ctr"/>
            <a:r>
              <a:rPr sz="1200" b="0" i="0">
                <a:solidFill>
                  <a:srgbClr val="9AA8BD"/>
                </a:solidFill>
                <a:latin typeface="Calibri"/>
              </a:rPr>
              <a:t>Grad-CAM</a:t>
            </a:r>
          </a:p>
        </p:txBody>
      </p:sp>
      <p:pic>
        <p:nvPicPr>
          <p:cNvPr id="15" name="Picture 14" descr="A05_1_overlay.png"/>
          <p:cNvPicPr>
            <a:picLocks noChangeAspect="1"/>
          </p:cNvPicPr>
          <p:nvPr/>
        </p:nvPicPr>
        <p:blipFill>
          <a:blip r:embed="rId8"/>
          <a:stretch>
            <a:fillRect/>
          </a:stretch>
        </p:blipFill>
        <p:spPr>
          <a:xfrm>
            <a:off x="10469880" y="4069080"/>
            <a:ext cx="1325880" cy="1325880"/>
          </a:xfrm>
          <a:prstGeom prst="rect">
            <a:avLst/>
          </a:prstGeom>
        </p:spPr>
      </p:pic>
      <p:sp>
        <p:nvSpPr>
          <p:cNvPr id="16" name="TextBox 15"/>
          <p:cNvSpPr txBox="1"/>
          <p:nvPr/>
        </p:nvSpPr>
        <p:spPr>
          <a:xfrm>
            <a:off x="10469880" y="5449824"/>
            <a:ext cx="1325880" cy="274320"/>
          </a:xfrm>
          <a:prstGeom prst="rect">
            <a:avLst/>
          </a:prstGeom>
          <a:noFill/>
        </p:spPr>
        <p:txBody>
          <a:bodyPr wrap="square" lIns="0" tIns="0" rIns="0" bIns="0" anchor="t">
            <a:spAutoFit/>
          </a:bodyPr>
          <a:lstStyle/>
          <a:p>
            <a:pPr algn="ctr"/>
            <a:r>
              <a:rPr sz="1200" b="0" i="0">
                <a:solidFill>
                  <a:srgbClr val="9AA8BD"/>
                </a:solidFill>
                <a:latin typeface="Calibri"/>
              </a:rPr>
              <a:t>Grad-CAM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Key results</a:t>
            </a:r>
          </a:p>
        </p:txBody>
      </p:sp>
      <p:sp>
        <p:nvSpPr>
          <p:cNvPr id="3" name="Rounded Rectangle 2"/>
          <p:cNvSpPr/>
          <p:nvPr/>
        </p:nvSpPr>
        <p:spPr>
          <a:xfrm>
            <a:off x="548640" y="1463040"/>
            <a:ext cx="2606040" cy="301752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691640"/>
            <a:ext cx="2194560" cy="1005840"/>
          </a:xfrm>
          <a:prstGeom prst="rect">
            <a:avLst/>
          </a:prstGeom>
          <a:noFill/>
        </p:spPr>
        <p:txBody>
          <a:bodyPr wrap="square" lIns="0" tIns="0" rIns="0" bIns="0" anchor="ctr">
            <a:spAutoFit/>
          </a:bodyPr>
          <a:lstStyle/>
          <a:p>
            <a:pPr algn="l"/>
            <a:r>
              <a:rPr sz="4800" b="1" i="0">
                <a:solidFill>
                  <a:srgbClr val="14213D"/>
                </a:solidFill>
                <a:latin typeface="Cambria"/>
              </a:rPr>
              <a:t>99.2%</a:t>
            </a:r>
          </a:p>
        </p:txBody>
      </p:sp>
      <p:sp>
        <p:nvSpPr>
          <p:cNvPr id="5" name="TextBox 4"/>
          <p:cNvSpPr txBox="1"/>
          <p:nvPr/>
        </p:nvSpPr>
        <p:spPr>
          <a:xfrm>
            <a:off x="777240" y="2743200"/>
            <a:ext cx="2194560" cy="640080"/>
          </a:xfrm>
          <a:prstGeom prst="rect">
            <a:avLst/>
          </a:prstGeom>
          <a:noFill/>
        </p:spPr>
        <p:txBody>
          <a:bodyPr wrap="square" lIns="0" tIns="0" rIns="0" bIns="0" anchor="t">
            <a:spAutoFit/>
          </a:bodyPr>
          <a:lstStyle/>
          <a:p>
            <a:pPr algn="l"/>
            <a:r>
              <a:rPr sz="1600" b="1" i="0">
                <a:solidFill>
                  <a:srgbClr val="1F2933"/>
                </a:solidFill>
                <a:latin typeface="Calibri"/>
              </a:rPr>
              <a:t>Cross-validated macro-F1</a:t>
            </a:r>
          </a:p>
        </p:txBody>
      </p:sp>
      <p:sp>
        <p:nvSpPr>
          <p:cNvPr id="6" name="TextBox 5"/>
          <p:cNvSpPr txBox="1"/>
          <p:nvPr/>
        </p:nvSpPr>
        <p:spPr>
          <a:xfrm>
            <a:off x="777240" y="3429000"/>
            <a:ext cx="2194560" cy="914400"/>
          </a:xfrm>
          <a:prstGeom prst="rect">
            <a:avLst/>
          </a:prstGeom>
          <a:noFill/>
        </p:spPr>
        <p:txBody>
          <a:bodyPr wrap="square" lIns="0" tIns="0" rIns="0" bIns="0" anchor="t">
            <a:spAutoFit/>
          </a:bodyPr>
          <a:lstStyle/>
          <a:p>
            <a:pPr algn="l"/>
            <a:r>
              <a:rPr sz="1300" b="0" i="0">
                <a:solidFill>
                  <a:srgbClr val="5B6573"/>
                </a:solidFill>
                <a:latin typeface="Calibri"/>
              </a:rPr>
              <a:t>DenseNet-121, 5-fold CV on 253 images (2 errors in total)</a:t>
            </a:r>
          </a:p>
        </p:txBody>
      </p:sp>
      <p:sp>
        <p:nvSpPr>
          <p:cNvPr id="7" name="Rounded Rectangle 6"/>
          <p:cNvSpPr/>
          <p:nvPr/>
        </p:nvSpPr>
        <p:spPr>
          <a:xfrm>
            <a:off x="3364992" y="1463040"/>
            <a:ext cx="2606040" cy="301752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93592" y="1691640"/>
            <a:ext cx="2194560" cy="1005840"/>
          </a:xfrm>
          <a:prstGeom prst="rect">
            <a:avLst/>
          </a:prstGeom>
          <a:noFill/>
        </p:spPr>
        <p:txBody>
          <a:bodyPr wrap="square" lIns="0" tIns="0" rIns="0" bIns="0" anchor="ctr">
            <a:spAutoFit/>
          </a:bodyPr>
          <a:lstStyle/>
          <a:p>
            <a:pPr algn="l"/>
            <a:r>
              <a:rPr sz="4800" b="1" i="0">
                <a:solidFill>
                  <a:srgbClr val="14213D"/>
                </a:solidFill>
                <a:latin typeface="Cambria"/>
              </a:rPr>
              <a:t>55 / 55</a:t>
            </a:r>
          </a:p>
        </p:txBody>
      </p:sp>
      <p:sp>
        <p:nvSpPr>
          <p:cNvPr id="9" name="TextBox 8"/>
          <p:cNvSpPr txBox="1"/>
          <p:nvPr/>
        </p:nvSpPr>
        <p:spPr>
          <a:xfrm>
            <a:off x="3593592" y="2743200"/>
            <a:ext cx="2194560" cy="640080"/>
          </a:xfrm>
          <a:prstGeom prst="rect">
            <a:avLst/>
          </a:prstGeom>
          <a:noFill/>
        </p:spPr>
        <p:txBody>
          <a:bodyPr wrap="square" lIns="0" tIns="0" rIns="0" bIns="0" anchor="t">
            <a:spAutoFit/>
          </a:bodyPr>
          <a:lstStyle/>
          <a:p>
            <a:pPr algn="l"/>
            <a:r>
              <a:rPr sz="1600" b="1" i="0">
                <a:solidFill>
                  <a:srgbClr val="1F2933"/>
                </a:solidFill>
                <a:latin typeface="Calibri"/>
              </a:rPr>
              <a:t>Held-out test images correct</a:t>
            </a:r>
          </a:p>
        </p:txBody>
      </p:sp>
      <p:sp>
        <p:nvSpPr>
          <p:cNvPr id="10" name="TextBox 9"/>
          <p:cNvSpPr txBox="1"/>
          <p:nvPr/>
        </p:nvSpPr>
        <p:spPr>
          <a:xfrm>
            <a:off x="3593592" y="3429000"/>
            <a:ext cx="2194560" cy="914400"/>
          </a:xfrm>
          <a:prstGeom prst="rect">
            <a:avLst/>
          </a:prstGeom>
          <a:noFill/>
        </p:spPr>
        <p:txBody>
          <a:bodyPr wrap="square" lIns="0" tIns="0" rIns="0" bIns="0" anchor="t">
            <a:spAutoFit/>
          </a:bodyPr>
          <a:lstStyle/>
          <a:p>
            <a:pPr algn="l"/>
            <a:r>
              <a:rPr sz="1300" b="0" i="0">
                <a:solidFill>
                  <a:srgbClr val="5B6573"/>
                </a:solidFill>
                <a:latin typeface="Calibri"/>
              </a:rPr>
              <a:t>Accuracy 100%, macro-F1 1.000 across FAF, IR and OTHER</a:t>
            </a:r>
          </a:p>
        </p:txBody>
      </p:sp>
      <p:sp>
        <p:nvSpPr>
          <p:cNvPr id="19" name="Rounded Rectangle 18"/>
          <p:cNvSpPr/>
          <p:nvPr/>
        </p:nvSpPr>
        <p:spPr>
          <a:xfrm>
            <a:off x="548640" y="4846320"/>
            <a:ext cx="11064240" cy="1280160"/>
          </a:xfrm>
          <a:prstGeom prst="roundRect">
            <a:avLst>
              <a:gd name="adj" fmla="val 8000"/>
            </a:avLst>
          </a:prstGeom>
          <a:solidFill>
            <a:srgbClr val="FCE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2960" y="5257800"/>
            <a:ext cx="457200" cy="45720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14213D"/>
                </a:solidFill>
                <a:latin typeface="Calibri"/>
              </a:rPr>
              <a:t>!</a:t>
            </a:r>
          </a:p>
        </p:txBody>
      </p:sp>
      <p:sp>
        <p:nvSpPr>
          <p:cNvPr id="21" name="TextBox 20"/>
          <p:cNvSpPr txBox="1"/>
          <p:nvPr/>
        </p:nvSpPr>
        <p:spPr>
          <a:xfrm>
            <a:off x="1508760" y="4983480"/>
            <a:ext cx="9875520" cy="1005840"/>
          </a:xfrm>
          <a:prstGeom prst="rect">
            <a:avLst/>
          </a:prstGeom>
          <a:noFill/>
        </p:spPr>
        <p:txBody>
          <a:bodyPr wrap="square" lIns="0" tIns="0" rIns="0" bIns="0" anchor="ctr">
            <a:spAutoFit/>
          </a:bodyPr>
          <a:lstStyle/>
          <a:p>
            <a:pPr algn="l"/>
            <a:r>
              <a:rPr sz="1600" b="1" i="0">
                <a:solidFill>
                  <a:srgbClr val="1F2933"/>
                </a:solidFill>
                <a:latin typeface="Calibri"/>
              </a:rPr>
              <a:t>Grad-CAM: </a:t>
            </a:r>
            <a:r>
              <a:rPr sz="1600" b="0" i="0">
                <a:solidFill>
                  <a:srgbClr val="1F2933"/>
                </a:solidFill>
                <a:latin typeface="Calibri"/>
              </a:rPr>
              <a:t>FAF predictions rely on retinal anatomy (optic disc, macula, lesions). IR predictions rely mainly on the outer ring of the image, which may be a shortcut. This needs a follow-up test.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Task: identify the imaging modality</a:t>
            </a:r>
          </a:p>
        </p:txBody>
      </p:sp>
      <p:sp>
        <p:nvSpPr>
          <p:cNvPr id="3" name="Rounded Rectangle 2"/>
          <p:cNvSpPr/>
          <p:nvPr/>
        </p:nvSpPr>
        <p:spPr>
          <a:xfrm>
            <a:off x="548640" y="1371600"/>
            <a:ext cx="3566160" cy="466344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0006_AF_B-0_0_orig.png"/>
          <p:cNvPicPr>
            <a:picLocks noChangeAspect="1"/>
          </p:cNvPicPr>
          <p:nvPr/>
        </p:nvPicPr>
        <p:blipFill>
          <a:blip r:embed="rId3"/>
          <a:stretch>
            <a:fillRect/>
          </a:stretch>
        </p:blipFill>
        <p:spPr>
          <a:xfrm>
            <a:off x="1325880" y="1600200"/>
            <a:ext cx="2011680" cy="2011680"/>
          </a:xfrm>
          <a:prstGeom prst="rect">
            <a:avLst/>
          </a:prstGeom>
        </p:spPr>
      </p:pic>
      <p:sp>
        <p:nvSpPr>
          <p:cNvPr id="5" name="TextBox 4"/>
          <p:cNvSpPr txBox="1"/>
          <p:nvPr/>
        </p:nvSpPr>
        <p:spPr>
          <a:xfrm>
            <a:off x="822959" y="3794760"/>
            <a:ext cx="3017520" cy="457200"/>
          </a:xfrm>
          <a:prstGeom prst="rect">
            <a:avLst/>
          </a:prstGeom>
          <a:noFill/>
        </p:spPr>
        <p:txBody>
          <a:bodyPr wrap="square" lIns="0" tIns="0" rIns="0" bIns="0" anchor="t">
            <a:spAutoFit/>
          </a:bodyPr>
          <a:lstStyle/>
          <a:p>
            <a:pPr algn="ctr"/>
            <a:r>
              <a:rPr sz="2400" b="1" i="0">
                <a:solidFill>
                  <a:srgbClr val="14213D"/>
                </a:solidFill>
                <a:latin typeface="Cambria"/>
              </a:rPr>
              <a:t>FAF</a:t>
            </a:r>
          </a:p>
        </p:txBody>
      </p:sp>
      <p:sp>
        <p:nvSpPr>
          <p:cNvPr id="6" name="TextBox 5"/>
          <p:cNvSpPr txBox="1"/>
          <p:nvPr/>
        </p:nvSpPr>
        <p:spPr>
          <a:xfrm>
            <a:off x="822959" y="4251960"/>
            <a:ext cx="3017520" cy="640080"/>
          </a:xfrm>
          <a:prstGeom prst="rect">
            <a:avLst/>
          </a:prstGeom>
          <a:noFill/>
        </p:spPr>
        <p:txBody>
          <a:bodyPr wrap="square" lIns="0" tIns="0" rIns="0" bIns="0" anchor="t">
            <a:spAutoFit/>
          </a:bodyPr>
          <a:lstStyle/>
          <a:p>
            <a:pPr algn="ctr"/>
            <a:r>
              <a:rPr sz="1400" b="0" i="0">
                <a:solidFill>
                  <a:srgbClr val="5B6573"/>
                </a:solidFill>
                <a:latin typeface="Calibri"/>
              </a:rPr>
              <a:t>Fundus autofluorescence</a:t>
            </a:r>
          </a:p>
        </p:txBody>
      </p:sp>
      <p:sp>
        <p:nvSpPr>
          <p:cNvPr id="7" name="TextBox 6"/>
          <p:cNvSpPr txBox="1"/>
          <p:nvPr/>
        </p:nvSpPr>
        <p:spPr>
          <a:xfrm>
            <a:off x="822959" y="5029200"/>
            <a:ext cx="1463040" cy="731520"/>
          </a:xfrm>
          <a:prstGeom prst="rect">
            <a:avLst/>
          </a:prstGeom>
          <a:noFill/>
        </p:spPr>
        <p:txBody>
          <a:bodyPr wrap="square" lIns="0" tIns="0" rIns="0" bIns="0" anchor="t">
            <a:spAutoFit/>
          </a:bodyPr>
          <a:lstStyle/>
          <a:p>
            <a:pPr algn="ctr"/>
            <a:r>
              <a:rPr sz="2800" b="1" i="0">
                <a:solidFill>
                  <a:srgbClr val="14213D"/>
                </a:solidFill>
                <a:latin typeface="Calibri"/>
              </a:rPr>
              <a:t>87</a:t>
            </a:r>
          </a:p>
          <a:p>
            <a:pPr algn="ctr"/>
            <a:r>
              <a:rPr sz="1200" b="0" i="0">
                <a:solidFill>
                  <a:srgbClr val="5B6573"/>
                </a:solidFill>
                <a:latin typeface="Calibri"/>
              </a:rPr>
              <a:t>train</a:t>
            </a:r>
          </a:p>
        </p:txBody>
      </p:sp>
      <p:sp>
        <p:nvSpPr>
          <p:cNvPr id="8" name="TextBox 7"/>
          <p:cNvSpPr txBox="1"/>
          <p:nvPr/>
        </p:nvSpPr>
        <p:spPr>
          <a:xfrm>
            <a:off x="2377440" y="5029200"/>
            <a:ext cx="1463040" cy="731520"/>
          </a:xfrm>
          <a:prstGeom prst="rect">
            <a:avLst/>
          </a:prstGeom>
          <a:noFill/>
        </p:spPr>
        <p:txBody>
          <a:bodyPr wrap="square" lIns="0" tIns="0" rIns="0" bIns="0" anchor="t">
            <a:spAutoFit/>
          </a:bodyPr>
          <a:lstStyle/>
          <a:p>
            <a:pPr algn="ctr"/>
            <a:r>
              <a:rPr sz="2800" b="1" i="0">
                <a:solidFill>
                  <a:srgbClr val="1F7A8C"/>
                </a:solidFill>
                <a:latin typeface="Calibri"/>
              </a:rPr>
              <a:t>22</a:t>
            </a:r>
          </a:p>
          <a:p>
            <a:pPr algn="ctr"/>
            <a:r>
              <a:rPr sz="1200" b="0" i="0">
                <a:solidFill>
                  <a:srgbClr val="5B6573"/>
                </a:solidFill>
                <a:latin typeface="Calibri"/>
              </a:rPr>
              <a:t>test</a:t>
            </a:r>
          </a:p>
        </p:txBody>
      </p:sp>
      <p:sp>
        <p:nvSpPr>
          <p:cNvPr id="9" name="Rounded Rectangle 8"/>
          <p:cNvSpPr/>
          <p:nvPr/>
        </p:nvSpPr>
        <p:spPr>
          <a:xfrm>
            <a:off x="4297679" y="1371600"/>
            <a:ext cx="3566160" cy="466344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0003_SLO_IR-0_0_orig.png"/>
          <p:cNvPicPr>
            <a:picLocks noChangeAspect="1"/>
          </p:cNvPicPr>
          <p:nvPr/>
        </p:nvPicPr>
        <p:blipFill>
          <a:blip r:embed="rId4"/>
          <a:stretch>
            <a:fillRect/>
          </a:stretch>
        </p:blipFill>
        <p:spPr>
          <a:xfrm>
            <a:off x="5074919" y="1600200"/>
            <a:ext cx="2011680" cy="2011680"/>
          </a:xfrm>
          <a:prstGeom prst="rect">
            <a:avLst/>
          </a:prstGeom>
        </p:spPr>
      </p:pic>
      <p:sp>
        <p:nvSpPr>
          <p:cNvPr id="11" name="TextBox 10"/>
          <p:cNvSpPr txBox="1"/>
          <p:nvPr/>
        </p:nvSpPr>
        <p:spPr>
          <a:xfrm>
            <a:off x="4571999" y="3794760"/>
            <a:ext cx="3017520" cy="457200"/>
          </a:xfrm>
          <a:prstGeom prst="rect">
            <a:avLst/>
          </a:prstGeom>
          <a:noFill/>
        </p:spPr>
        <p:txBody>
          <a:bodyPr wrap="square" lIns="0" tIns="0" rIns="0" bIns="0" anchor="t">
            <a:spAutoFit/>
          </a:bodyPr>
          <a:lstStyle/>
          <a:p>
            <a:pPr algn="ctr"/>
            <a:r>
              <a:rPr sz="2400" b="1" i="0">
                <a:solidFill>
                  <a:srgbClr val="14213D"/>
                </a:solidFill>
                <a:latin typeface="Cambria"/>
              </a:rPr>
              <a:t>IR</a:t>
            </a:r>
          </a:p>
        </p:txBody>
      </p:sp>
      <p:sp>
        <p:nvSpPr>
          <p:cNvPr id="12" name="TextBox 11"/>
          <p:cNvSpPr txBox="1"/>
          <p:nvPr/>
        </p:nvSpPr>
        <p:spPr>
          <a:xfrm>
            <a:off x="4571999" y="4251960"/>
            <a:ext cx="3017520" cy="640080"/>
          </a:xfrm>
          <a:prstGeom prst="rect">
            <a:avLst/>
          </a:prstGeom>
          <a:noFill/>
        </p:spPr>
        <p:txBody>
          <a:bodyPr wrap="square" lIns="0" tIns="0" rIns="0" bIns="0" anchor="t">
            <a:spAutoFit/>
          </a:bodyPr>
          <a:lstStyle/>
          <a:p>
            <a:pPr algn="ctr"/>
            <a:r>
              <a:rPr sz="1400" b="0" i="0">
                <a:solidFill>
                  <a:srgbClr val="5B6573"/>
                </a:solidFill>
                <a:latin typeface="Calibri"/>
              </a:rPr>
              <a:t>Infrared reflectance (SLO)</a:t>
            </a:r>
          </a:p>
        </p:txBody>
      </p:sp>
      <p:sp>
        <p:nvSpPr>
          <p:cNvPr id="13" name="TextBox 12"/>
          <p:cNvSpPr txBox="1"/>
          <p:nvPr/>
        </p:nvSpPr>
        <p:spPr>
          <a:xfrm>
            <a:off x="4571999" y="5029200"/>
            <a:ext cx="1463040" cy="731520"/>
          </a:xfrm>
          <a:prstGeom prst="rect">
            <a:avLst/>
          </a:prstGeom>
          <a:noFill/>
        </p:spPr>
        <p:txBody>
          <a:bodyPr wrap="square" lIns="0" tIns="0" rIns="0" bIns="0" anchor="t">
            <a:spAutoFit/>
          </a:bodyPr>
          <a:lstStyle/>
          <a:p>
            <a:pPr algn="ctr"/>
            <a:r>
              <a:rPr sz="2800" b="1" i="0">
                <a:solidFill>
                  <a:srgbClr val="14213D"/>
                </a:solidFill>
                <a:latin typeface="Calibri"/>
              </a:rPr>
              <a:t>84</a:t>
            </a:r>
          </a:p>
          <a:p>
            <a:pPr algn="ctr"/>
            <a:r>
              <a:rPr sz="1200" b="0" i="0">
                <a:solidFill>
                  <a:srgbClr val="5B6573"/>
                </a:solidFill>
                <a:latin typeface="Calibri"/>
              </a:rPr>
              <a:t>train</a:t>
            </a:r>
          </a:p>
        </p:txBody>
      </p:sp>
      <p:sp>
        <p:nvSpPr>
          <p:cNvPr id="14" name="TextBox 13"/>
          <p:cNvSpPr txBox="1"/>
          <p:nvPr/>
        </p:nvSpPr>
        <p:spPr>
          <a:xfrm>
            <a:off x="6126479" y="5029200"/>
            <a:ext cx="1463040" cy="731520"/>
          </a:xfrm>
          <a:prstGeom prst="rect">
            <a:avLst/>
          </a:prstGeom>
          <a:noFill/>
        </p:spPr>
        <p:txBody>
          <a:bodyPr wrap="square" lIns="0" tIns="0" rIns="0" bIns="0" anchor="t">
            <a:spAutoFit/>
          </a:bodyPr>
          <a:lstStyle/>
          <a:p>
            <a:pPr algn="ctr"/>
            <a:r>
              <a:rPr sz="2800" b="1" i="0">
                <a:solidFill>
                  <a:srgbClr val="1F7A8C"/>
                </a:solidFill>
                <a:latin typeface="Calibri"/>
              </a:rPr>
              <a:t>13</a:t>
            </a:r>
          </a:p>
          <a:p>
            <a:pPr algn="ctr"/>
            <a:r>
              <a:rPr sz="1200" b="0" i="0">
                <a:solidFill>
                  <a:srgbClr val="5B6573"/>
                </a:solidFill>
                <a:latin typeface="Calibri"/>
              </a:rPr>
              <a:t>test</a:t>
            </a:r>
          </a:p>
        </p:txBody>
      </p:sp>
      <p:sp>
        <p:nvSpPr>
          <p:cNvPr id="15" name="Rounded Rectangle 14"/>
          <p:cNvSpPr/>
          <p:nvPr/>
        </p:nvSpPr>
        <p:spPr>
          <a:xfrm>
            <a:off x="8046719" y="1371600"/>
            <a:ext cx="3566160" cy="466344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A05_1_orig.png"/>
          <p:cNvPicPr>
            <a:picLocks noChangeAspect="1"/>
          </p:cNvPicPr>
          <p:nvPr/>
        </p:nvPicPr>
        <p:blipFill>
          <a:blip r:embed="rId5"/>
          <a:stretch>
            <a:fillRect/>
          </a:stretch>
        </p:blipFill>
        <p:spPr>
          <a:xfrm>
            <a:off x="8823959" y="1600200"/>
            <a:ext cx="2011680" cy="2011680"/>
          </a:xfrm>
          <a:prstGeom prst="rect">
            <a:avLst/>
          </a:prstGeom>
        </p:spPr>
      </p:pic>
      <p:sp>
        <p:nvSpPr>
          <p:cNvPr id="17" name="TextBox 16"/>
          <p:cNvSpPr txBox="1"/>
          <p:nvPr/>
        </p:nvSpPr>
        <p:spPr>
          <a:xfrm>
            <a:off x="8321040" y="3794760"/>
            <a:ext cx="3017520" cy="457200"/>
          </a:xfrm>
          <a:prstGeom prst="rect">
            <a:avLst/>
          </a:prstGeom>
          <a:noFill/>
        </p:spPr>
        <p:txBody>
          <a:bodyPr wrap="square" lIns="0" tIns="0" rIns="0" bIns="0" anchor="t">
            <a:spAutoFit/>
          </a:bodyPr>
          <a:lstStyle/>
          <a:p>
            <a:pPr algn="ctr"/>
            <a:r>
              <a:rPr sz="2400" b="1" i="0">
                <a:solidFill>
                  <a:srgbClr val="14213D"/>
                </a:solidFill>
                <a:latin typeface="Cambria"/>
              </a:rPr>
              <a:t>OTHER</a:t>
            </a:r>
          </a:p>
        </p:txBody>
      </p:sp>
      <p:sp>
        <p:nvSpPr>
          <p:cNvPr id="18" name="TextBox 17"/>
          <p:cNvSpPr txBox="1"/>
          <p:nvPr/>
        </p:nvSpPr>
        <p:spPr>
          <a:xfrm>
            <a:off x="8321040" y="4251960"/>
            <a:ext cx="3017520" cy="640080"/>
          </a:xfrm>
          <a:prstGeom prst="rect">
            <a:avLst/>
          </a:prstGeom>
          <a:noFill/>
        </p:spPr>
        <p:txBody>
          <a:bodyPr wrap="square" lIns="0" tIns="0" rIns="0" bIns="0" anchor="t">
            <a:spAutoFit/>
          </a:bodyPr>
          <a:lstStyle/>
          <a:p>
            <a:pPr algn="ctr"/>
            <a:r>
              <a:rPr sz="1400" b="0" i="0">
                <a:solidFill>
                  <a:srgbClr val="5B6573"/>
                </a:solidFill>
                <a:latin typeface="Calibri"/>
              </a:rPr>
              <a:t>Colour fundus, fluorescein angiography, montages</a:t>
            </a:r>
          </a:p>
        </p:txBody>
      </p:sp>
      <p:sp>
        <p:nvSpPr>
          <p:cNvPr id="19" name="TextBox 18"/>
          <p:cNvSpPr txBox="1"/>
          <p:nvPr/>
        </p:nvSpPr>
        <p:spPr>
          <a:xfrm>
            <a:off x="8321040" y="5029200"/>
            <a:ext cx="1463040" cy="731520"/>
          </a:xfrm>
          <a:prstGeom prst="rect">
            <a:avLst/>
          </a:prstGeom>
          <a:noFill/>
        </p:spPr>
        <p:txBody>
          <a:bodyPr wrap="square" lIns="0" tIns="0" rIns="0" bIns="0" anchor="t">
            <a:spAutoFit/>
          </a:bodyPr>
          <a:lstStyle/>
          <a:p>
            <a:pPr algn="ctr"/>
            <a:r>
              <a:rPr sz="2800" b="1" i="0">
                <a:solidFill>
                  <a:srgbClr val="14213D"/>
                </a:solidFill>
                <a:latin typeface="Calibri"/>
              </a:rPr>
              <a:t>82</a:t>
            </a:r>
          </a:p>
          <a:p>
            <a:pPr algn="ctr"/>
            <a:r>
              <a:rPr sz="1200" b="0" i="0">
                <a:solidFill>
                  <a:srgbClr val="5B6573"/>
                </a:solidFill>
                <a:latin typeface="Calibri"/>
              </a:rPr>
              <a:t>train</a:t>
            </a:r>
          </a:p>
        </p:txBody>
      </p:sp>
      <p:sp>
        <p:nvSpPr>
          <p:cNvPr id="20" name="TextBox 19"/>
          <p:cNvSpPr txBox="1"/>
          <p:nvPr/>
        </p:nvSpPr>
        <p:spPr>
          <a:xfrm>
            <a:off x="9875519" y="5029200"/>
            <a:ext cx="1463040" cy="731520"/>
          </a:xfrm>
          <a:prstGeom prst="rect">
            <a:avLst/>
          </a:prstGeom>
          <a:noFill/>
        </p:spPr>
        <p:txBody>
          <a:bodyPr wrap="square" lIns="0" tIns="0" rIns="0" bIns="0" anchor="t">
            <a:spAutoFit/>
          </a:bodyPr>
          <a:lstStyle/>
          <a:p>
            <a:pPr algn="ctr"/>
            <a:r>
              <a:rPr sz="2800" b="1" i="0">
                <a:solidFill>
                  <a:srgbClr val="1F7A8C"/>
                </a:solidFill>
                <a:latin typeface="Calibri"/>
              </a:rPr>
              <a:t>20</a:t>
            </a:r>
          </a:p>
          <a:p>
            <a:pPr algn="ctr"/>
            <a:r>
              <a:rPr sz="1200" b="0" i="0">
                <a:solidFill>
                  <a:srgbClr val="5B6573"/>
                </a:solidFill>
                <a:latin typeface="Calibri"/>
              </a:rPr>
              <a:t>test</a:t>
            </a:r>
          </a:p>
        </p:txBody>
      </p:sp>
      <p:sp>
        <p:nvSpPr>
          <p:cNvPr id="21" name="TextBox 20"/>
          <p:cNvSpPr txBox="1"/>
          <p:nvPr/>
        </p:nvSpPr>
        <p:spPr>
          <a:xfrm>
            <a:off x="548640" y="6217920"/>
            <a:ext cx="11064240" cy="365760"/>
          </a:xfrm>
          <a:prstGeom prst="rect">
            <a:avLst/>
          </a:prstGeom>
          <a:noFill/>
        </p:spPr>
        <p:txBody>
          <a:bodyPr wrap="square" lIns="0" tIns="0" rIns="0" bIns="0" anchor="t">
            <a:spAutoFit/>
          </a:bodyPr>
          <a:lstStyle/>
          <a:p>
            <a:pPr algn="ctr"/>
            <a:r>
              <a:rPr sz="1400" b="0" i="0">
                <a:solidFill>
                  <a:srgbClr val="5B6573"/>
                </a:solidFill>
                <a:latin typeface="Calibri"/>
              </a:rPr>
              <a:t>253 training images (5-fold cross-validation)  ·  55 held-out test images, used once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Method</a:t>
            </a:r>
          </a:p>
        </p:txBody>
      </p:sp>
      <p:sp>
        <p:nvSpPr>
          <p:cNvPr id="3" name="Rounded Rectangle 2"/>
          <p:cNvSpPr/>
          <p:nvPr/>
        </p:nvSpPr>
        <p:spPr>
          <a:xfrm>
            <a:off x="548640" y="1874519"/>
            <a:ext cx="2066543" cy="384048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13232" y="1600200"/>
            <a:ext cx="548640" cy="54864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14213D"/>
                </a:solidFill>
                <a:latin typeface="Calibri"/>
              </a:rPr>
              <a:t>1</a:t>
            </a:r>
          </a:p>
        </p:txBody>
      </p:sp>
      <p:sp>
        <p:nvSpPr>
          <p:cNvPr id="5" name="TextBox 4"/>
          <p:cNvSpPr txBox="1"/>
          <p:nvPr/>
        </p:nvSpPr>
        <p:spPr>
          <a:xfrm>
            <a:off x="731520" y="2331720"/>
            <a:ext cx="1737360" cy="457200"/>
          </a:xfrm>
          <a:prstGeom prst="rect">
            <a:avLst/>
          </a:prstGeom>
          <a:noFill/>
        </p:spPr>
        <p:txBody>
          <a:bodyPr wrap="square" lIns="0" tIns="0" rIns="0" bIns="0" anchor="t">
            <a:spAutoFit/>
          </a:bodyPr>
          <a:lstStyle/>
          <a:p>
            <a:pPr algn="l"/>
            <a:r>
              <a:rPr sz="2000" b="1" i="0">
                <a:solidFill>
                  <a:srgbClr val="14213D"/>
                </a:solidFill>
                <a:latin typeface="Cambria"/>
              </a:rPr>
              <a:t>Preprocess</a:t>
            </a:r>
          </a:p>
        </p:txBody>
      </p:sp>
      <p:sp>
        <p:nvSpPr>
          <p:cNvPr id="6" name="TextBox 5"/>
          <p:cNvSpPr txBox="1"/>
          <p:nvPr/>
        </p:nvSpPr>
        <p:spPr>
          <a:xfrm>
            <a:off x="731520" y="2880360"/>
            <a:ext cx="1737360" cy="2743200"/>
          </a:xfrm>
          <a:prstGeom prst="rect">
            <a:avLst/>
          </a:prstGeom>
          <a:noFill/>
        </p:spPr>
        <p:txBody>
          <a:bodyPr wrap="square" lIns="0" tIns="0" rIns="0" bIns="0" anchor="t">
            <a:spAutoFit/>
          </a:bodyPr>
          <a:lstStyle/>
          <a:p>
            <a:pPr algn="l">
              <a:spcAft>
                <a:spcPts val="800"/>
              </a:spcAft>
            </a:pPr>
            <a:r>
              <a:rPr sz="1400" b="0" i="0">
                <a:solidFill>
                  <a:srgbClr val="1F2933"/>
                </a:solidFill>
                <a:latin typeface="Calibri"/>
              </a:rPr>
              <a:t>Resize + pad to 330×330</a:t>
            </a:r>
          </a:p>
          <a:p>
            <a:pPr algn="l">
              <a:spcAft>
                <a:spcPts val="800"/>
              </a:spcAft>
            </a:pPr>
            <a:r>
              <a:rPr sz="1400" b="0" i="0">
                <a:solidFill>
                  <a:srgbClr val="1F2933"/>
                </a:solidFill>
                <a:latin typeface="Calibri"/>
              </a:rPr>
              <a:t>Circular mask: same round field of view for every image</a:t>
            </a:r>
          </a:p>
        </p:txBody>
      </p:sp>
      <p:sp>
        <p:nvSpPr>
          <p:cNvPr id="7" name="Rounded Rectangle 6"/>
          <p:cNvSpPr/>
          <p:nvPr/>
        </p:nvSpPr>
        <p:spPr>
          <a:xfrm>
            <a:off x="2798064" y="1874519"/>
            <a:ext cx="2066543" cy="384048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962656" y="1600200"/>
            <a:ext cx="548640" cy="54864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14213D"/>
                </a:solidFill>
                <a:latin typeface="Calibri"/>
              </a:rPr>
              <a:t>2</a:t>
            </a:r>
          </a:p>
        </p:txBody>
      </p:sp>
      <p:sp>
        <p:nvSpPr>
          <p:cNvPr id="9" name="TextBox 8"/>
          <p:cNvSpPr txBox="1"/>
          <p:nvPr/>
        </p:nvSpPr>
        <p:spPr>
          <a:xfrm>
            <a:off x="2980944" y="2331720"/>
            <a:ext cx="1737360" cy="457200"/>
          </a:xfrm>
          <a:prstGeom prst="rect">
            <a:avLst/>
          </a:prstGeom>
          <a:noFill/>
        </p:spPr>
        <p:txBody>
          <a:bodyPr wrap="square" lIns="0" tIns="0" rIns="0" bIns="0" anchor="t">
            <a:spAutoFit/>
          </a:bodyPr>
          <a:lstStyle/>
          <a:p>
            <a:pPr algn="l"/>
            <a:r>
              <a:rPr sz="2000" b="1" i="0">
                <a:solidFill>
                  <a:srgbClr val="14213D"/>
                </a:solidFill>
                <a:latin typeface="Cambria"/>
              </a:rPr>
              <a:t>Augment</a:t>
            </a:r>
          </a:p>
        </p:txBody>
      </p:sp>
      <p:sp>
        <p:nvSpPr>
          <p:cNvPr id="10" name="TextBox 9"/>
          <p:cNvSpPr txBox="1"/>
          <p:nvPr/>
        </p:nvSpPr>
        <p:spPr>
          <a:xfrm>
            <a:off x="2980944" y="2880360"/>
            <a:ext cx="1737360" cy="2743200"/>
          </a:xfrm>
          <a:prstGeom prst="rect">
            <a:avLst/>
          </a:prstGeom>
          <a:noFill/>
        </p:spPr>
        <p:txBody>
          <a:bodyPr wrap="square" lIns="0" tIns="0" rIns="0" bIns="0" anchor="t">
            <a:spAutoFit/>
          </a:bodyPr>
          <a:lstStyle/>
          <a:p>
            <a:pPr algn="l">
              <a:spcAft>
                <a:spcPts val="800"/>
              </a:spcAft>
            </a:pPr>
            <a:r>
              <a:rPr sz="1400" b="0" i="0">
                <a:solidFill>
                  <a:srgbClr val="1F2933"/>
                </a:solidFill>
                <a:latin typeface="Calibri"/>
              </a:rPr>
              <a:t>Horizontal flip</a:t>
            </a:r>
          </a:p>
          <a:p>
            <a:pPr algn="l">
              <a:spcAft>
                <a:spcPts val="800"/>
              </a:spcAft>
            </a:pPr>
            <a:r>
              <a:rPr sz="1400" b="0" i="0">
                <a:solidFill>
                  <a:srgbClr val="1F2933"/>
                </a:solidFill>
                <a:latin typeface="Calibri"/>
              </a:rPr>
              <a:t>Rotation ±7°</a:t>
            </a:r>
          </a:p>
          <a:p>
            <a:pPr algn="l">
              <a:spcAft>
                <a:spcPts val="800"/>
              </a:spcAft>
            </a:pPr>
            <a:r>
              <a:rPr sz="1400" b="0" i="0">
                <a:solidFill>
                  <a:srgbClr val="1F2933"/>
                </a:solidFill>
                <a:latin typeface="Calibri"/>
              </a:rPr>
              <a:t>Brightness / contrast jitter ±40%</a:t>
            </a:r>
          </a:p>
        </p:txBody>
      </p:sp>
      <p:sp>
        <p:nvSpPr>
          <p:cNvPr id="11" name="Rounded Rectangle 10"/>
          <p:cNvSpPr/>
          <p:nvPr/>
        </p:nvSpPr>
        <p:spPr>
          <a:xfrm>
            <a:off x="5047488" y="1874519"/>
            <a:ext cx="2066543" cy="384048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212079" y="1600200"/>
            <a:ext cx="548640" cy="54864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14213D"/>
                </a:solidFill>
                <a:latin typeface="Calibri"/>
              </a:rPr>
              <a:t>3</a:t>
            </a:r>
          </a:p>
        </p:txBody>
      </p:sp>
      <p:sp>
        <p:nvSpPr>
          <p:cNvPr id="13" name="TextBox 12"/>
          <p:cNvSpPr txBox="1"/>
          <p:nvPr/>
        </p:nvSpPr>
        <p:spPr>
          <a:xfrm>
            <a:off x="5230368" y="2331720"/>
            <a:ext cx="1737360" cy="457200"/>
          </a:xfrm>
          <a:prstGeom prst="rect">
            <a:avLst/>
          </a:prstGeom>
          <a:noFill/>
        </p:spPr>
        <p:txBody>
          <a:bodyPr wrap="square" lIns="0" tIns="0" rIns="0" bIns="0" anchor="t">
            <a:spAutoFit/>
          </a:bodyPr>
          <a:lstStyle/>
          <a:p>
            <a:pPr algn="l"/>
            <a:r>
              <a:rPr sz="2000" b="1" i="0">
                <a:solidFill>
                  <a:srgbClr val="14213D"/>
                </a:solidFill>
                <a:latin typeface="Cambria"/>
              </a:rPr>
              <a:t>Train</a:t>
            </a:r>
          </a:p>
        </p:txBody>
      </p:sp>
      <p:sp>
        <p:nvSpPr>
          <p:cNvPr id="14" name="TextBox 13"/>
          <p:cNvSpPr txBox="1"/>
          <p:nvPr/>
        </p:nvSpPr>
        <p:spPr>
          <a:xfrm>
            <a:off x="5230368" y="2880360"/>
            <a:ext cx="1737360" cy="2743200"/>
          </a:xfrm>
          <a:prstGeom prst="rect">
            <a:avLst/>
          </a:prstGeom>
          <a:noFill/>
        </p:spPr>
        <p:txBody>
          <a:bodyPr wrap="square" lIns="0" tIns="0" rIns="0" bIns="0" anchor="t">
            <a:spAutoFit/>
          </a:bodyPr>
          <a:lstStyle/>
          <a:p>
            <a:pPr algn="l">
              <a:spcAft>
                <a:spcPts val="800"/>
              </a:spcAft>
            </a:pPr>
            <a:r>
              <a:rPr sz="1400" b="0" i="0">
                <a:solidFill>
                  <a:srgbClr val="1F2933"/>
                </a:solidFill>
                <a:latin typeface="Calibri"/>
              </a:rPr>
              <a:t>ImageNet weights</a:t>
            </a:r>
          </a:p>
          <a:p>
            <a:pPr algn="l">
              <a:spcAft>
                <a:spcPts val="800"/>
              </a:spcAft>
            </a:pPr>
            <a:r>
              <a:rPr sz="1400" b="0" i="0">
                <a:solidFill>
                  <a:srgbClr val="1F2933"/>
                </a:solidFill>
                <a:latin typeface="Calibri"/>
              </a:rPr>
              <a:t>AdamW, lr 1e-4, wd 1e-4</a:t>
            </a:r>
          </a:p>
          <a:p>
            <a:pPr algn="l">
              <a:spcAft>
                <a:spcPts val="800"/>
              </a:spcAft>
            </a:pPr>
            <a:r>
              <a:rPr sz="1400" b="0" i="0">
                <a:solidFill>
                  <a:srgbClr val="1F2933"/>
                </a:solidFill>
                <a:latin typeface="Calibri"/>
              </a:rPr>
              <a:t>Batch 8, class-weighted cross-entropy</a:t>
            </a:r>
          </a:p>
        </p:txBody>
      </p:sp>
      <p:sp>
        <p:nvSpPr>
          <p:cNvPr id="15" name="Rounded Rectangle 14"/>
          <p:cNvSpPr/>
          <p:nvPr/>
        </p:nvSpPr>
        <p:spPr>
          <a:xfrm>
            <a:off x="7296912" y="1874519"/>
            <a:ext cx="2066543" cy="384048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461504" y="1600200"/>
            <a:ext cx="548640" cy="54864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14213D"/>
                </a:solidFill>
                <a:latin typeface="Calibri"/>
              </a:rPr>
              <a:t>4</a:t>
            </a:r>
          </a:p>
        </p:txBody>
      </p:sp>
      <p:sp>
        <p:nvSpPr>
          <p:cNvPr id="17" name="TextBox 16"/>
          <p:cNvSpPr txBox="1"/>
          <p:nvPr/>
        </p:nvSpPr>
        <p:spPr>
          <a:xfrm>
            <a:off x="7479792" y="2331720"/>
            <a:ext cx="1737360" cy="457200"/>
          </a:xfrm>
          <a:prstGeom prst="rect">
            <a:avLst/>
          </a:prstGeom>
          <a:noFill/>
        </p:spPr>
        <p:txBody>
          <a:bodyPr wrap="square" lIns="0" tIns="0" rIns="0" bIns="0" anchor="t">
            <a:spAutoFit/>
          </a:bodyPr>
          <a:lstStyle/>
          <a:p>
            <a:pPr algn="l"/>
            <a:r>
              <a:rPr sz="2000" b="1" i="0">
                <a:solidFill>
                  <a:srgbClr val="14213D"/>
                </a:solidFill>
                <a:latin typeface="Cambria"/>
              </a:rPr>
              <a:t>Select</a:t>
            </a:r>
          </a:p>
        </p:txBody>
      </p:sp>
      <p:sp>
        <p:nvSpPr>
          <p:cNvPr id="18" name="TextBox 17"/>
          <p:cNvSpPr txBox="1"/>
          <p:nvPr/>
        </p:nvSpPr>
        <p:spPr>
          <a:xfrm>
            <a:off x="7479792" y="2880360"/>
            <a:ext cx="1737360" cy="2743200"/>
          </a:xfrm>
          <a:prstGeom prst="rect">
            <a:avLst/>
          </a:prstGeom>
          <a:noFill/>
        </p:spPr>
        <p:txBody>
          <a:bodyPr wrap="square" lIns="0" tIns="0" rIns="0" bIns="0" anchor="t">
            <a:spAutoFit/>
          </a:bodyPr>
          <a:lstStyle/>
          <a:p>
            <a:pPr algn="l">
              <a:spcAft>
                <a:spcPts val="800"/>
              </a:spcAft>
            </a:pPr>
            <a:r>
              <a:rPr sz="1400" b="0" i="0">
                <a:solidFill>
                  <a:srgbClr val="1F2933"/>
                </a:solidFill>
                <a:latin typeface="Calibri"/>
              </a:rPr>
              <a:t>Stratified 5-fold CV</a:t>
            </a:r>
          </a:p>
          <a:p>
            <a:pPr algn="l">
              <a:spcAft>
                <a:spcPts val="800"/>
              </a:spcAft>
            </a:pPr>
            <a:r>
              <a:rPr sz="1400" b="0" i="0">
                <a:solidFill>
                  <a:srgbClr val="1F2933"/>
                </a:solidFill>
                <a:latin typeface="Calibri"/>
              </a:rPr>
              <a:t>Early stop on val macro-F1 (patience 4, max 15 epochs)</a:t>
            </a:r>
          </a:p>
        </p:txBody>
      </p:sp>
      <p:sp>
        <p:nvSpPr>
          <p:cNvPr id="19" name="Rounded Rectangle 18"/>
          <p:cNvSpPr/>
          <p:nvPr/>
        </p:nvSpPr>
        <p:spPr>
          <a:xfrm>
            <a:off x="9546336" y="1874519"/>
            <a:ext cx="2066543" cy="384048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710928" y="1600200"/>
            <a:ext cx="548640" cy="54864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14213D"/>
                </a:solidFill>
                <a:latin typeface="Calibri"/>
              </a:rPr>
              <a:t>5</a:t>
            </a:r>
          </a:p>
        </p:txBody>
      </p:sp>
      <p:sp>
        <p:nvSpPr>
          <p:cNvPr id="21" name="TextBox 20"/>
          <p:cNvSpPr txBox="1"/>
          <p:nvPr/>
        </p:nvSpPr>
        <p:spPr>
          <a:xfrm>
            <a:off x="9729215" y="2331720"/>
            <a:ext cx="1737360" cy="457200"/>
          </a:xfrm>
          <a:prstGeom prst="rect">
            <a:avLst/>
          </a:prstGeom>
          <a:noFill/>
        </p:spPr>
        <p:txBody>
          <a:bodyPr wrap="square" lIns="0" tIns="0" rIns="0" bIns="0" anchor="t">
            <a:spAutoFit/>
          </a:bodyPr>
          <a:lstStyle/>
          <a:p>
            <a:pPr algn="l"/>
            <a:r>
              <a:rPr sz="2000" b="1" i="0">
                <a:solidFill>
                  <a:srgbClr val="14213D"/>
                </a:solidFill>
                <a:latin typeface="Cambria"/>
              </a:rPr>
              <a:t>Test</a:t>
            </a:r>
          </a:p>
        </p:txBody>
      </p:sp>
      <p:sp>
        <p:nvSpPr>
          <p:cNvPr id="22" name="TextBox 21"/>
          <p:cNvSpPr txBox="1"/>
          <p:nvPr/>
        </p:nvSpPr>
        <p:spPr>
          <a:xfrm>
            <a:off x="9729215" y="2880360"/>
            <a:ext cx="1737360" cy="2743200"/>
          </a:xfrm>
          <a:prstGeom prst="rect">
            <a:avLst/>
          </a:prstGeom>
          <a:noFill/>
        </p:spPr>
        <p:txBody>
          <a:bodyPr wrap="square" lIns="0" tIns="0" rIns="0" bIns="0" anchor="t">
            <a:spAutoFit/>
          </a:bodyPr>
          <a:lstStyle/>
          <a:p>
            <a:pPr algn="l">
              <a:spcAft>
                <a:spcPts val="800"/>
              </a:spcAft>
            </a:pPr>
            <a:r>
              <a:rPr sz="1400" b="0" i="0">
                <a:solidFill>
                  <a:srgbClr val="1F2933"/>
                </a:solidFill>
                <a:latin typeface="Calibri"/>
              </a:rPr>
              <a:t>Retrain best model on all 253 images (3 epochs)</a:t>
            </a:r>
          </a:p>
          <a:p>
            <a:pPr algn="l">
              <a:spcAft>
                <a:spcPts val="800"/>
              </a:spcAft>
            </a:pPr>
            <a:r>
              <a:rPr sz="1400" b="0" i="0">
                <a:solidFill>
                  <a:srgbClr val="1F2933"/>
                </a:solidFill>
                <a:latin typeface="Calibri"/>
              </a:rPr>
              <a:t>Evaluate once on 55 test images</a:t>
            </a:r>
          </a:p>
        </p:txBody>
      </p:sp>
      <p:sp>
        <p:nvSpPr>
          <p:cNvPr id="23" name="TextBox 22"/>
          <p:cNvSpPr txBox="1"/>
          <p:nvPr/>
        </p:nvSpPr>
        <p:spPr>
          <a:xfrm>
            <a:off x="548640" y="5989320"/>
            <a:ext cx="11064240" cy="457200"/>
          </a:xfrm>
          <a:prstGeom prst="rect">
            <a:avLst/>
          </a:prstGeom>
          <a:noFill/>
        </p:spPr>
        <p:txBody>
          <a:bodyPr wrap="square" lIns="0" tIns="0" rIns="0" bIns="0" anchor="t">
            <a:spAutoFit/>
          </a:bodyPr>
          <a:lstStyle/>
          <a:p>
            <a:pPr algn="l"/>
            <a:r>
              <a:rPr sz="1400" b="0" i="0">
                <a:solidFill>
                  <a:srgbClr val="5B6573"/>
                </a:solidFill>
                <a:latin typeface="Calibri"/>
              </a:rPr>
              <a:t>Models compared: ResNet-18, ResNet-50, ResNet-101, DenseNet-121, EfficientNet-B0 (all ImageNet-pretrained, identical folds)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Model comparison: 5-fold cross-validation</a:t>
            </a:r>
          </a:p>
        </p:txBody>
      </p:sp>
      <p:graphicFrame>
        <p:nvGraphicFramePr>
          <p:cNvPr id="3" name="Chart 2"/>
          <p:cNvGraphicFramePr>
            <a:graphicFrameLocks noGrp="1"/>
          </p:cNvGraphicFramePr>
          <p:nvPr/>
        </p:nvGraphicFramePr>
        <p:xfrm>
          <a:off x="548640" y="1325880"/>
          <a:ext cx="566928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p:cNvGraphicFramePr>
            <a:graphicFrameLocks noGrp="1"/>
          </p:cNvGraphicFramePr>
          <p:nvPr/>
        </p:nvGraphicFramePr>
        <p:xfrm>
          <a:off x="6492240" y="1463040"/>
          <a:ext cx="5120640" cy="27432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457200">
                <a:tc>
                  <a:txBody>
                    <a:bodyPr/>
                    <a:lstStyle/>
                    <a:p>
                      <a:pPr algn="l"/>
                      <a:r>
                        <a:rPr sz="1300" b="1">
                          <a:solidFill>
                            <a:srgbClr val="FFFFFF"/>
                          </a:solidFill>
                          <a:latin typeface="Calibri"/>
                        </a:rPr>
                        <a:t>Model</a:t>
                      </a:r>
                    </a:p>
                  </a:txBody>
                  <a:tcPr marT="27432" marB="27432" anchor="ctr">
                    <a:solidFill>
                      <a:srgbClr val="14213D"/>
                    </a:solidFill>
                  </a:tcPr>
                </a:tc>
                <a:tc>
                  <a:txBody>
                    <a:bodyPr/>
                    <a:lstStyle/>
                    <a:p>
                      <a:pPr algn="ctr"/>
                      <a:r>
                        <a:rPr sz="1300" b="1">
                          <a:solidFill>
                            <a:srgbClr val="FFFFFF"/>
                          </a:solidFill>
                          <a:latin typeface="Calibri"/>
                        </a:rPr>
                        <a:t>Accuracy</a:t>
                      </a:r>
                    </a:p>
                  </a:txBody>
                  <a:tcPr marT="27432" marB="27432" anchor="ctr">
                    <a:solidFill>
                      <a:srgbClr val="14213D"/>
                    </a:solidFill>
                  </a:tcPr>
                </a:tc>
                <a:tc>
                  <a:txBody>
                    <a:bodyPr/>
                    <a:lstStyle/>
                    <a:p>
                      <a:pPr algn="ctr"/>
                      <a:r>
                        <a:rPr sz="1300" b="1">
                          <a:solidFill>
                            <a:srgbClr val="FFFFFF"/>
                          </a:solidFill>
                          <a:latin typeface="Calibri"/>
                        </a:rPr>
                        <a:t>Macro-F1</a:t>
                      </a:r>
                    </a:p>
                  </a:txBody>
                  <a:tcPr marT="27432" marB="27432" anchor="ctr">
                    <a:solidFill>
                      <a:srgbClr val="14213D"/>
                    </a:solidFill>
                  </a:tcPr>
                </a:tc>
                <a:tc>
                  <a:txBody>
                    <a:bodyPr/>
                    <a:lstStyle/>
                    <a:p>
                      <a:pPr algn="ctr"/>
                      <a:r>
                        <a:rPr sz="1300" b="1">
                          <a:solidFill>
                            <a:srgbClr val="FFFFFF"/>
                          </a:solidFill>
                          <a:latin typeface="Calibri"/>
                        </a:rPr>
                        <a:t>Errors</a:t>
                      </a:r>
                    </a:p>
                  </a:txBody>
                  <a:tcPr marT="27432" marB="27432" anchor="ctr">
                    <a:solidFill>
                      <a:srgbClr val="14213D"/>
                    </a:solidFill>
                  </a:tcPr>
                </a:tc>
                <a:extLst>
                  <a:ext uri="{0D108BD9-81ED-4DB2-BD59-A6C34878D82A}">
                    <a16:rowId xmlns:a16="http://schemas.microsoft.com/office/drawing/2014/main" val="10000"/>
                  </a:ext>
                </a:extLst>
              </a:tr>
              <a:tr h="457200">
                <a:tc>
                  <a:txBody>
                    <a:bodyPr/>
                    <a:lstStyle/>
                    <a:p>
                      <a:pPr algn="l"/>
                      <a:r>
                        <a:rPr sz="1300" b="1">
                          <a:solidFill>
                            <a:srgbClr val="1F2933"/>
                          </a:solidFill>
                          <a:latin typeface="Calibri"/>
                        </a:rPr>
                        <a:t>DenseNet-121</a:t>
                      </a:r>
                    </a:p>
                  </a:txBody>
                  <a:tcPr marT="27432" marB="27432" anchor="ctr">
                    <a:solidFill>
                      <a:srgbClr val="FCEFD8"/>
                    </a:solidFill>
                  </a:tcPr>
                </a:tc>
                <a:tc>
                  <a:txBody>
                    <a:bodyPr/>
                    <a:lstStyle/>
                    <a:p>
                      <a:pPr algn="ctr"/>
                      <a:r>
                        <a:rPr sz="1300" b="1">
                          <a:solidFill>
                            <a:srgbClr val="1F2933"/>
                          </a:solidFill>
                          <a:latin typeface="Calibri"/>
                        </a:rPr>
                        <a:t>0.992 ± 0.011</a:t>
                      </a:r>
                    </a:p>
                  </a:txBody>
                  <a:tcPr marT="27432" marB="27432" anchor="ctr">
                    <a:solidFill>
                      <a:srgbClr val="FCEFD8"/>
                    </a:solidFill>
                  </a:tcPr>
                </a:tc>
                <a:tc>
                  <a:txBody>
                    <a:bodyPr/>
                    <a:lstStyle/>
                    <a:p>
                      <a:pPr algn="ctr"/>
                      <a:r>
                        <a:rPr sz="1300" b="1">
                          <a:solidFill>
                            <a:srgbClr val="1F2933"/>
                          </a:solidFill>
                          <a:latin typeface="Calibri"/>
                        </a:rPr>
                        <a:t>0.992 ± 0.011</a:t>
                      </a:r>
                    </a:p>
                  </a:txBody>
                  <a:tcPr marT="27432" marB="27432" anchor="ctr">
                    <a:solidFill>
                      <a:srgbClr val="FCEFD8"/>
                    </a:solidFill>
                  </a:tcPr>
                </a:tc>
                <a:tc>
                  <a:txBody>
                    <a:bodyPr/>
                    <a:lstStyle/>
                    <a:p>
                      <a:pPr algn="ctr"/>
                      <a:r>
                        <a:rPr sz="1300" b="1">
                          <a:solidFill>
                            <a:srgbClr val="1F2933"/>
                          </a:solidFill>
                          <a:latin typeface="Calibri"/>
                        </a:rPr>
                        <a:t>2 / 253</a:t>
                      </a:r>
                    </a:p>
                  </a:txBody>
                  <a:tcPr marT="27432" marB="27432" anchor="ctr">
                    <a:solidFill>
                      <a:srgbClr val="FCEFD8"/>
                    </a:solidFill>
                  </a:tcPr>
                </a:tc>
                <a:extLst>
                  <a:ext uri="{0D108BD9-81ED-4DB2-BD59-A6C34878D82A}">
                    <a16:rowId xmlns:a16="http://schemas.microsoft.com/office/drawing/2014/main" val="10001"/>
                  </a:ext>
                </a:extLst>
              </a:tr>
              <a:tr h="457200">
                <a:tc>
                  <a:txBody>
                    <a:bodyPr/>
                    <a:lstStyle/>
                    <a:p>
                      <a:pPr algn="l"/>
                      <a:r>
                        <a:rPr sz="1300" b="0">
                          <a:solidFill>
                            <a:srgbClr val="1F2933"/>
                          </a:solidFill>
                          <a:latin typeface="Calibri"/>
                        </a:rPr>
                        <a:t>ResNet-18</a:t>
                      </a:r>
                    </a:p>
                  </a:txBody>
                  <a:tcPr marT="27432" marB="27432" anchor="ctr">
                    <a:solidFill>
                      <a:srgbClr val="FFFFFF"/>
                    </a:solidFill>
                  </a:tcPr>
                </a:tc>
                <a:tc>
                  <a:txBody>
                    <a:bodyPr/>
                    <a:lstStyle/>
                    <a:p>
                      <a:pPr algn="ctr"/>
                      <a:r>
                        <a:rPr sz="1300" b="0">
                          <a:solidFill>
                            <a:srgbClr val="1F2933"/>
                          </a:solidFill>
                          <a:latin typeface="Calibri"/>
                        </a:rPr>
                        <a:t>0.992 ± 0.011</a:t>
                      </a:r>
                    </a:p>
                  </a:txBody>
                  <a:tcPr marT="27432" marB="27432" anchor="ctr">
                    <a:solidFill>
                      <a:srgbClr val="FFFFFF"/>
                    </a:solidFill>
                  </a:tcPr>
                </a:tc>
                <a:tc>
                  <a:txBody>
                    <a:bodyPr/>
                    <a:lstStyle/>
                    <a:p>
                      <a:pPr algn="ctr"/>
                      <a:r>
                        <a:rPr sz="1300" b="0">
                          <a:solidFill>
                            <a:srgbClr val="1F2933"/>
                          </a:solidFill>
                          <a:latin typeface="Calibri"/>
                        </a:rPr>
                        <a:t>0.992 ± 0.011</a:t>
                      </a:r>
                    </a:p>
                  </a:txBody>
                  <a:tcPr marT="27432" marB="27432" anchor="ctr">
                    <a:solidFill>
                      <a:srgbClr val="FFFFFF"/>
                    </a:solidFill>
                  </a:tcPr>
                </a:tc>
                <a:tc>
                  <a:txBody>
                    <a:bodyPr/>
                    <a:lstStyle/>
                    <a:p>
                      <a:pPr algn="ctr"/>
                      <a:r>
                        <a:rPr sz="1300" b="0">
                          <a:solidFill>
                            <a:srgbClr val="1F2933"/>
                          </a:solidFill>
                          <a:latin typeface="Calibri"/>
                        </a:rPr>
                        <a:t>2 / 253</a:t>
                      </a:r>
                    </a:p>
                  </a:txBody>
                  <a:tcPr marT="27432" marB="27432" anchor="ctr">
                    <a:solidFill>
                      <a:srgbClr val="FFFFFF"/>
                    </a:solidFill>
                  </a:tcPr>
                </a:tc>
                <a:extLst>
                  <a:ext uri="{0D108BD9-81ED-4DB2-BD59-A6C34878D82A}">
                    <a16:rowId xmlns:a16="http://schemas.microsoft.com/office/drawing/2014/main" val="10002"/>
                  </a:ext>
                </a:extLst>
              </a:tr>
              <a:tr h="457200">
                <a:tc>
                  <a:txBody>
                    <a:bodyPr/>
                    <a:lstStyle/>
                    <a:p>
                      <a:pPr algn="l"/>
                      <a:r>
                        <a:rPr sz="1300" b="0">
                          <a:solidFill>
                            <a:srgbClr val="1F2933"/>
                          </a:solidFill>
                          <a:latin typeface="Calibri"/>
                        </a:rPr>
                        <a:t>ResNet-101</a:t>
                      </a:r>
                    </a:p>
                  </a:txBody>
                  <a:tcPr marT="27432" marB="27432" anchor="ctr">
                    <a:solidFill>
                      <a:srgbClr val="F1F4F7"/>
                    </a:solidFill>
                  </a:tcPr>
                </a:tc>
                <a:tc>
                  <a:txBody>
                    <a:bodyPr/>
                    <a:lstStyle/>
                    <a:p>
                      <a:pPr algn="ctr"/>
                      <a:r>
                        <a:rPr sz="1300" b="0">
                          <a:solidFill>
                            <a:srgbClr val="1F2933"/>
                          </a:solidFill>
                          <a:latin typeface="Calibri"/>
                        </a:rPr>
                        <a:t>0.992 ± 0.011</a:t>
                      </a:r>
                    </a:p>
                  </a:txBody>
                  <a:tcPr marT="27432" marB="27432" anchor="ctr">
                    <a:solidFill>
                      <a:srgbClr val="F1F4F7"/>
                    </a:solidFill>
                  </a:tcPr>
                </a:tc>
                <a:tc>
                  <a:txBody>
                    <a:bodyPr/>
                    <a:lstStyle/>
                    <a:p>
                      <a:pPr algn="ctr"/>
                      <a:r>
                        <a:rPr sz="1300" b="0">
                          <a:solidFill>
                            <a:srgbClr val="1F2933"/>
                          </a:solidFill>
                          <a:latin typeface="Calibri"/>
                        </a:rPr>
                        <a:t>0.992 ± 0.011</a:t>
                      </a:r>
                    </a:p>
                  </a:txBody>
                  <a:tcPr marT="27432" marB="27432" anchor="ctr">
                    <a:solidFill>
                      <a:srgbClr val="F1F4F7"/>
                    </a:solidFill>
                  </a:tcPr>
                </a:tc>
                <a:tc>
                  <a:txBody>
                    <a:bodyPr/>
                    <a:lstStyle/>
                    <a:p>
                      <a:pPr algn="ctr"/>
                      <a:r>
                        <a:rPr sz="1300" b="0">
                          <a:solidFill>
                            <a:srgbClr val="1F2933"/>
                          </a:solidFill>
                          <a:latin typeface="Calibri"/>
                        </a:rPr>
                        <a:t>2 / 253</a:t>
                      </a:r>
                    </a:p>
                  </a:txBody>
                  <a:tcPr marT="27432" marB="27432" anchor="ctr">
                    <a:solidFill>
                      <a:srgbClr val="F1F4F7"/>
                    </a:solidFill>
                  </a:tcPr>
                </a:tc>
                <a:extLst>
                  <a:ext uri="{0D108BD9-81ED-4DB2-BD59-A6C34878D82A}">
                    <a16:rowId xmlns:a16="http://schemas.microsoft.com/office/drawing/2014/main" val="10003"/>
                  </a:ext>
                </a:extLst>
              </a:tr>
              <a:tr h="457200">
                <a:tc>
                  <a:txBody>
                    <a:bodyPr/>
                    <a:lstStyle/>
                    <a:p>
                      <a:pPr algn="l"/>
                      <a:r>
                        <a:rPr sz="1300" b="0">
                          <a:solidFill>
                            <a:srgbClr val="1F2933"/>
                          </a:solidFill>
                          <a:latin typeface="Calibri"/>
                        </a:rPr>
                        <a:t>EfficientNet-B0</a:t>
                      </a:r>
                    </a:p>
                  </a:txBody>
                  <a:tcPr marT="27432" marB="27432" anchor="ctr">
                    <a:solidFill>
                      <a:srgbClr val="FFFFFF"/>
                    </a:solidFill>
                  </a:tcPr>
                </a:tc>
                <a:tc>
                  <a:txBody>
                    <a:bodyPr/>
                    <a:lstStyle/>
                    <a:p>
                      <a:pPr algn="ctr"/>
                      <a:r>
                        <a:rPr sz="1300" b="0">
                          <a:solidFill>
                            <a:srgbClr val="1F2933"/>
                          </a:solidFill>
                          <a:latin typeface="Calibri"/>
                        </a:rPr>
                        <a:t>0.984 ± 0.016</a:t>
                      </a:r>
                    </a:p>
                  </a:txBody>
                  <a:tcPr marT="27432" marB="27432" anchor="ctr">
                    <a:solidFill>
                      <a:srgbClr val="FFFFFF"/>
                    </a:solidFill>
                  </a:tcPr>
                </a:tc>
                <a:tc>
                  <a:txBody>
                    <a:bodyPr/>
                    <a:lstStyle/>
                    <a:p>
                      <a:pPr algn="ctr"/>
                      <a:r>
                        <a:rPr sz="1300" b="0">
                          <a:solidFill>
                            <a:srgbClr val="1F2933"/>
                          </a:solidFill>
                          <a:latin typeface="Calibri"/>
                        </a:rPr>
                        <a:t>0.984 ± 0.016</a:t>
                      </a:r>
                    </a:p>
                  </a:txBody>
                  <a:tcPr marT="27432" marB="27432" anchor="ctr">
                    <a:solidFill>
                      <a:srgbClr val="FFFFFF"/>
                    </a:solidFill>
                  </a:tcPr>
                </a:tc>
                <a:tc>
                  <a:txBody>
                    <a:bodyPr/>
                    <a:lstStyle/>
                    <a:p>
                      <a:pPr algn="ctr"/>
                      <a:r>
                        <a:rPr sz="1300" b="0">
                          <a:solidFill>
                            <a:srgbClr val="1F2933"/>
                          </a:solidFill>
                          <a:latin typeface="Calibri"/>
                        </a:rPr>
                        <a:t>4 / 253</a:t>
                      </a:r>
                    </a:p>
                  </a:txBody>
                  <a:tcPr marT="27432" marB="27432" anchor="ctr">
                    <a:solidFill>
                      <a:srgbClr val="FFFFFF"/>
                    </a:solidFill>
                  </a:tcPr>
                </a:tc>
                <a:extLst>
                  <a:ext uri="{0D108BD9-81ED-4DB2-BD59-A6C34878D82A}">
                    <a16:rowId xmlns:a16="http://schemas.microsoft.com/office/drawing/2014/main" val="10004"/>
                  </a:ext>
                </a:extLst>
              </a:tr>
              <a:tr h="457200">
                <a:tc>
                  <a:txBody>
                    <a:bodyPr/>
                    <a:lstStyle/>
                    <a:p>
                      <a:pPr algn="l"/>
                      <a:r>
                        <a:rPr sz="1300" b="0">
                          <a:solidFill>
                            <a:srgbClr val="1F2933"/>
                          </a:solidFill>
                          <a:latin typeface="Calibri"/>
                        </a:rPr>
                        <a:t>ResNet-50</a:t>
                      </a:r>
                    </a:p>
                  </a:txBody>
                  <a:tcPr marT="27432" marB="27432" anchor="ctr">
                    <a:solidFill>
                      <a:srgbClr val="F1F4F7"/>
                    </a:solidFill>
                  </a:tcPr>
                </a:tc>
                <a:tc>
                  <a:txBody>
                    <a:bodyPr/>
                    <a:lstStyle/>
                    <a:p>
                      <a:pPr algn="ctr"/>
                      <a:r>
                        <a:rPr sz="1300" b="0">
                          <a:solidFill>
                            <a:srgbClr val="1F2933"/>
                          </a:solidFill>
                          <a:latin typeface="Calibri"/>
                        </a:rPr>
                        <a:t>0.984 ± 0.009</a:t>
                      </a:r>
                    </a:p>
                  </a:txBody>
                  <a:tcPr marT="27432" marB="27432" anchor="ctr">
                    <a:solidFill>
                      <a:srgbClr val="F1F4F7"/>
                    </a:solidFill>
                  </a:tcPr>
                </a:tc>
                <a:tc>
                  <a:txBody>
                    <a:bodyPr/>
                    <a:lstStyle/>
                    <a:p>
                      <a:pPr algn="ctr"/>
                      <a:r>
                        <a:rPr sz="1300" b="0">
                          <a:solidFill>
                            <a:srgbClr val="1F2933"/>
                          </a:solidFill>
                          <a:latin typeface="Calibri"/>
                        </a:rPr>
                        <a:t>0.984 ± 0.009</a:t>
                      </a:r>
                    </a:p>
                  </a:txBody>
                  <a:tcPr marT="27432" marB="27432" anchor="ctr">
                    <a:solidFill>
                      <a:srgbClr val="F1F4F7"/>
                    </a:solidFill>
                  </a:tcPr>
                </a:tc>
                <a:tc>
                  <a:txBody>
                    <a:bodyPr/>
                    <a:lstStyle/>
                    <a:p>
                      <a:pPr algn="ctr"/>
                      <a:r>
                        <a:rPr sz="1300" b="0">
                          <a:solidFill>
                            <a:srgbClr val="1F2933"/>
                          </a:solidFill>
                          <a:latin typeface="Calibri"/>
                        </a:rPr>
                        <a:t>4 / 253</a:t>
                      </a:r>
                    </a:p>
                  </a:txBody>
                  <a:tcPr marT="27432" marB="27432" anchor="ctr">
                    <a:solidFill>
                      <a:srgbClr val="F1F4F7"/>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6492240" y="4480560"/>
            <a:ext cx="5120640" cy="132588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20840" y="4572000"/>
            <a:ext cx="4663440" cy="1143000"/>
          </a:xfrm>
          <a:prstGeom prst="rect">
            <a:avLst/>
          </a:prstGeom>
          <a:noFill/>
        </p:spPr>
        <p:txBody>
          <a:bodyPr wrap="square" lIns="0" tIns="0" rIns="0" bIns="0" anchor="ctr">
            <a:spAutoFit/>
          </a:bodyPr>
          <a:lstStyle/>
          <a:p>
            <a:pPr algn="l"/>
            <a:r>
              <a:rPr sz="1400" b="1" i="0">
                <a:solidFill>
                  <a:srgbClr val="1F2933"/>
                </a:solidFill>
                <a:latin typeface="Calibri"/>
              </a:rPr>
              <a:t>Top three are tied </a:t>
            </a:r>
            <a:r>
              <a:rPr sz="1400" b="0" i="0">
                <a:solidFill>
                  <a:srgbClr val="1F2933"/>
                </a:solidFill>
                <a:latin typeface="Calibri"/>
              </a:rPr>
              <a:t>(2 errors each, ΔF1 &lt; 0.001). DenseNet-121 was selected by the pre-set rule: highest mean CV macro-F1. Values are mean ± SD over 5 folds.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Training converges within a few epochs</a:t>
            </a:r>
          </a:p>
        </p:txBody>
      </p:sp>
      <p:pic>
        <p:nvPicPr>
          <p:cNvPr id="3" name="Picture 2" descr="loss_accuracy_curves.png"/>
          <p:cNvPicPr>
            <a:picLocks noChangeAspect="1"/>
          </p:cNvPicPr>
          <p:nvPr/>
        </p:nvPicPr>
        <p:blipFill>
          <a:blip r:embed="rId3"/>
          <a:stretch>
            <a:fillRect/>
          </a:stretch>
        </p:blipFill>
        <p:spPr>
          <a:xfrm>
            <a:off x="1051560" y="1234440"/>
            <a:ext cx="10058400" cy="3481754"/>
          </a:xfrm>
          <a:prstGeom prst="rect">
            <a:avLst/>
          </a:prstGeom>
        </p:spPr>
      </p:pic>
      <p:sp>
        <p:nvSpPr>
          <p:cNvPr id="4" name="Rounded Rectangle 3"/>
          <p:cNvSpPr/>
          <p:nvPr/>
        </p:nvSpPr>
        <p:spPr>
          <a:xfrm>
            <a:off x="548640" y="4892040"/>
            <a:ext cx="3566160" cy="137160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5029200"/>
            <a:ext cx="3108960" cy="1143000"/>
          </a:xfrm>
          <a:prstGeom prst="rect">
            <a:avLst/>
          </a:prstGeom>
          <a:noFill/>
        </p:spPr>
        <p:txBody>
          <a:bodyPr wrap="square" lIns="0" tIns="0" rIns="0" bIns="0" anchor="t">
            <a:spAutoFit/>
          </a:bodyPr>
          <a:lstStyle/>
          <a:p>
            <a:pPr algn="l">
              <a:spcAft>
                <a:spcPts val="400"/>
              </a:spcAft>
            </a:pPr>
            <a:r>
              <a:rPr sz="1600" b="1" i="0">
                <a:solidFill>
                  <a:srgbClr val="14213D"/>
                </a:solidFill>
                <a:latin typeface="Calibri"/>
              </a:rPr>
              <a:t>Fast convergence</a:t>
            </a:r>
          </a:p>
          <a:p>
            <a:pPr algn="l">
              <a:spcAft>
                <a:spcPts val="400"/>
              </a:spcAft>
            </a:pPr>
            <a:r>
              <a:rPr sz="1400" b="0" i="0">
                <a:solidFill>
                  <a:srgbClr val="1F2933"/>
                </a:solidFill>
                <a:latin typeface="Calibri"/>
              </a:rPr>
              <a:t>Validation accuracy &gt; 95% from epoch 2 for every model</a:t>
            </a:r>
          </a:p>
        </p:txBody>
      </p:sp>
      <p:sp>
        <p:nvSpPr>
          <p:cNvPr id="6" name="Rounded Rectangle 5"/>
          <p:cNvSpPr/>
          <p:nvPr/>
        </p:nvSpPr>
        <p:spPr>
          <a:xfrm>
            <a:off x="4297679" y="4892040"/>
            <a:ext cx="3566160" cy="137160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26279" y="5029200"/>
            <a:ext cx="3108960" cy="1143000"/>
          </a:xfrm>
          <a:prstGeom prst="rect">
            <a:avLst/>
          </a:prstGeom>
          <a:noFill/>
        </p:spPr>
        <p:txBody>
          <a:bodyPr wrap="square" lIns="0" tIns="0" rIns="0" bIns="0" anchor="t">
            <a:spAutoFit/>
          </a:bodyPr>
          <a:lstStyle/>
          <a:p>
            <a:pPr algn="l">
              <a:spcAft>
                <a:spcPts val="400"/>
              </a:spcAft>
            </a:pPr>
            <a:r>
              <a:rPr sz="1600" b="1" i="0">
                <a:solidFill>
                  <a:srgbClr val="14213D"/>
                </a:solidFill>
                <a:latin typeface="Calibri"/>
              </a:rPr>
              <a:t>No strong overfitting</a:t>
            </a:r>
          </a:p>
          <a:p>
            <a:pPr algn="l">
              <a:spcAft>
                <a:spcPts val="400"/>
              </a:spcAft>
            </a:pPr>
            <a:r>
              <a:rPr sz="1400" b="0" i="0">
                <a:solidFill>
                  <a:srgbClr val="1F2933"/>
                </a:solidFill>
                <a:latin typeface="Calibri"/>
              </a:rPr>
              <a:t>Validation loss stays at or below training loss</a:t>
            </a:r>
          </a:p>
        </p:txBody>
      </p:sp>
      <p:sp>
        <p:nvSpPr>
          <p:cNvPr id="8" name="Rounded Rectangle 7"/>
          <p:cNvSpPr/>
          <p:nvPr/>
        </p:nvSpPr>
        <p:spPr>
          <a:xfrm>
            <a:off x="8046719" y="4892040"/>
            <a:ext cx="3566160" cy="137160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75319" y="5029200"/>
            <a:ext cx="3108960" cy="1143000"/>
          </a:xfrm>
          <a:prstGeom prst="rect">
            <a:avLst/>
          </a:prstGeom>
          <a:noFill/>
        </p:spPr>
        <p:txBody>
          <a:bodyPr wrap="square" lIns="0" tIns="0" rIns="0" bIns="0" anchor="t">
            <a:spAutoFit/>
          </a:bodyPr>
          <a:lstStyle/>
          <a:p>
            <a:pPr algn="l">
              <a:spcAft>
                <a:spcPts val="400"/>
              </a:spcAft>
            </a:pPr>
            <a:r>
              <a:rPr sz="1600" b="1" i="0">
                <a:solidFill>
                  <a:srgbClr val="14213D"/>
                </a:solidFill>
                <a:latin typeface="Calibri"/>
              </a:rPr>
              <a:t>Early stopping</a:t>
            </a:r>
          </a:p>
          <a:p>
            <a:pPr algn="l">
              <a:spcAft>
                <a:spcPts val="400"/>
              </a:spcAft>
            </a:pPr>
            <a:r>
              <a:rPr sz="1400" b="0" i="0">
                <a:solidFill>
                  <a:srgbClr val="1F2933"/>
                </a:solidFill>
                <a:latin typeface="Calibri"/>
              </a:rPr>
              <a:t>Best epochs 1–7 (DenseNet-121 median: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Held-out test set: 55 / 55 correct</a:t>
            </a:r>
          </a:p>
        </p:txBody>
      </p:sp>
      <p:sp>
        <p:nvSpPr>
          <p:cNvPr id="3" name="TextBox 2"/>
          <p:cNvSpPr txBox="1"/>
          <p:nvPr/>
        </p:nvSpPr>
        <p:spPr>
          <a:xfrm>
            <a:off x="548640" y="1325880"/>
            <a:ext cx="5303520" cy="365760"/>
          </a:xfrm>
          <a:prstGeom prst="rect">
            <a:avLst/>
          </a:prstGeom>
          <a:noFill/>
        </p:spPr>
        <p:txBody>
          <a:bodyPr wrap="square" lIns="0" tIns="0" rIns="0" bIns="0" anchor="t">
            <a:spAutoFit/>
          </a:bodyPr>
          <a:lstStyle/>
          <a:p>
            <a:pPr algn="l"/>
            <a:r>
              <a:rPr sz="1400" b="1" i="0">
                <a:solidFill>
                  <a:srgbClr val="5B6573"/>
                </a:solidFill>
                <a:latin typeface="Calibri"/>
              </a:rPr>
              <a:t>Confusion matrix (rows = true, columns = predicted)</a:t>
            </a:r>
          </a:p>
        </p:txBody>
      </p:sp>
      <p:graphicFrame>
        <p:nvGraphicFramePr>
          <p:cNvPr id="4" name="Table 3"/>
          <p:cNvGraphicFramePr>
            <a:graphicFrameLocks noGrp="1"/>
          </p:cNvGraphicFramePr>
          <p:nvPr/>
        </p:nvGraphicFramePr>
        <p:xfrm>
          <a:off x="548640" y="1737360"/>
          <a:ext cx="5303520" cy="2267712"/>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66928">
                <a:tc>
                  <a:txBody>
                    <a:bodyPr/>
                    <a:lstStyle/>
                    <a:p>
                      <a:pPr algn="l"/>
                      <a:r>
                        <a:rPr sz="1800" b="1">
                          <a:solidFill>
                            <a:srgbClr val="FFFFFF"/>
                          </a:solidFill>
                          <a:latin typeface="Calibri"/>
                        </a:rPr>
                        <a:t>True \ Pred</a:t>
                      </a:r>
                    </a:p>
                  </a:txBody>
                  <a:tcPr marT="27432" marB="27432" anchor="ctr">
                    <a:solidFill>
                      <a:srgbClr val="14213D"/>
                    </a:solidFill>
                  </a:tcPr>
                </a:tc>
                <a:tc>
                  <a:txBody>
                    <a:bodyPr/>
                    <a:lstStyle/>
                    <a:p>
                      <a:pPr algn="ctr"/>
                      <a:r>
                        <a:rPr sz="1800" b="1">
                          <a:solidFill>
                            <a:srgbClr val="FFFFFF"/>
                          </a:solidFill>
                          <a:latin typeface="Calibri"/>
                        </a:rPr>
                        <a:t>FAF</a:t>
                      </a:r>
                    </a:p>
                  </a:txBody>
                  <a:tcPr marT="27432" marB="27432" anchor="ctr">
                    <a:solidFill>
                      <a:srgbClr val="14213D"/>
                    </a:solidFill>
                  </a:tcPr>
                </a:tc>
                <a:tc>
                  <a:txBody>
                    <a:bodyPr/>
                    <a:lstStyle/>
                    <a:p>
                      <a:pPr algn="ctr"/>
                      <a:r>
                        <a:rPr sz="1800" b="1">
                          <a:solidFill>
                            <a:srgbClr val="FFFFFF"/>
                          </a:solidFill>
                          <a:latin typeface="Calibri"/>
                        </a:rPr>
                        <a:t>IR</a:t>
                      </a:r>
                    </a:p>
                  </a:txBody>
                  <a:tcPr marT="27432" marB="27432" anchor="ctr">
                    <a:solidFill>
                      <a:srgbClr val="14213D"/>
                    </a:solidFill>
                  </a:tcPr>
                </a:tc>
                <a:tc>
                  <a:txBody>
                    <a:bodyPr/>
                    <a:lstStyle/>
                    <a:p>
                      <a:pPr algn="ctr"/>
                      <a:r>
                        <a:rPr sz="1800" b="1">
                          <a:solidFill>
                            <a:srgbClr val="FFFFFF"/>
                          </a:solidFill>
                          <a:latin typeface="Calibri"/>
                        </a:rPr>
                        <a:t>OTHER</a:t>
                      </a:r>
                    </a:p>
                  </a:txBody>
                  <a:tcPr marT="27432" marB="27432" anchor="ctr">
                    <a:solidFill>
                      <a:srgbClr val="14213D"/>
                    </a:solidFill>
                  </a:tcPr>
                </a:tc>
                <a:extLst>
                  <a:ext uri="{0D108BD9-81ED-4DB2-BD59-A6C34878D82A}">
                    <a16:rowId xmlns:a16="http://schemas.microsoft.com/office/drawing/2014/main" val="10000"/>
                  </a:ext>
                </a:extLst>
              </a:tr>
              <a:tr h="566928">
                <a:tc>
                  <a:txBody>
                    <a:bodyPr/>
                    <a:lstStyle/>
                    <a:p>
                      <a:pPr algn="l"/>
                      <a:r>
                        <a:rPr sz="1800" b="1">
                          <a:solidFill>
                            <a:srgbClr val="1F2933"/>
                          </a:solidFill>
                          <a:latin typeface="Calibri"/>
                        </a:rPr>
                        <a:t>FAF</a:t>
                      </a:r>
                    </a:p>
                  </a:txBody>
                  <a:tcPr marT="27432" marB="27432" anchor="ctr">
                    <a:solidFill>
                      <a:srgbClr val="F1F4F7"/>
                    </a:solidFill>
                  </a:tcPr>
                </a:tc>
                <a:tc>
                  <a:txBody>
                    <a:bodyPr/>
                    <a:lstStyle/>
                    <a:p>
                      <a:pPr algn="ctr"/>
                      <a:r>
                        <a:rPr sz="1800" b="0">
                          <a:solidFill>
                            <a:srgbClr val="1F2933"/>
                          </a:solidFill>
                          <a:latin typeface="Calibri"/>
                        </a:rPr>
                        <a:t>22</a:t>
                      </a:r>
                    </a:p>
                  </a:txBody>
                  <a:tcPr marT="27432" marB="27432" anchor="ctr">
                    <a:solidFill>
                      <a:srgbClr val="F1F4F7"/>
                    </a:solidFill>
                  </a:tcPr>
                </a:tc>
                <a:tc>
                  <a:txBody>
                    <a:bodyPr/>
                    <a:lstStyle/>
                    <a:p>
                      <a:pPr algn="ctr"/>
                      <a:r>
                        <a:rPr sz="1800" b="0">
                          <a:solidFill>
                            <a:srgbClr val="1F2933"/>
                          </a:solidFill>
                          <a:latin typeface="Calibri"/>
                        </a:rPr>
                        <a:t>0</a:t>
                      </a:r>
                    </a:p>
                  </a:txBody>
                  <a:tcPr marT="27432" marB="27432" anchor="ctr">
                    <a:solidFill>
                      <a:srgbClr val="F1F4F7"/>
                    </a:solidFill>
                  </a:tcPr>
                </a:tc>
                <a:tc>
                  <a:txBody>
                    <a:bodyPr/>
                    <a:lstStyle/>
                    <a:p>
                      <a:pPr algn="ctr"/>
                      <a:r>
                        <a:rPr sz="1800" b="0">
                          <a:solidFill>
                            <a:srgbClr val="1F2933"/>
                          </a:solidFill>
                          <a:latin typeface="Calibri"/>
                        </a:rPr>
                        <a:t>0</a:t>
                      </a:r>
                    </a:p>
                  </a:txBody>
                  <a:tcPr marT="27432" marB="27432" anchor="ctr">
                    <a:solidFill>
                      <a:srgbClr val="F1F4F7"/>
                    </a:solidFill>
                  </a:tcPr>
                </a:tc>
                <a:extLst>
                  <a:ext uri="{0D108BD9-81ED-4DB2-BD59-A6C34878D82A}">
                    <a16:rowId xmlns:a16="http://schemas.microsoft.com/office/drawing/2014/main" val="10001"/>
                  </a:ext>
                </a:extLst>
              </a:tr>
              <a:tr h="566928">
                <a:tc>
                  <a:txBody>
                    <a:bodyPr/>
                    <a:lstStyle/>
                    <a:p>
                      <a:pPr algn="l"/>
                      <a:r>
                        <a:rPr sz="1800" b="1">
                          <a:solidFill>
                            <a:srgbClr val="1F2933"/>
                          </a:solidFill>
                          <a:latin typeface="Calibri"/>
                        </a:rPr>
                        <a:t>IR</a:t>
                      </a:r>
                    </a:p>
                  </a:txBody>
                  <a:tcPr marT="27432" marB="27432" anchor="ctr">
                    <a:solidFill>
                      <a:srgbClr val="FFFFFF"/>
                    </a:solidFill>
                  </a:tcPr>
                </a:tc>
                <a:tc>
                  <a:txBody>
                    <a:bodyPr/>
                    <a:lstStyle/>
                    <a:p>
                      <a:pPr algn="ctr"/>
                      <a:r>
                        <a:rPr sz="1800" b="0">
                          <a:solidFill>
                            <a:srgbClr val="1F2933"/>
                          </a:solidFill>
                          <a:latin typeface="Calibri"/>
                        </a:rPr>
                        <a:t>0</a:t>
                      </a:r>
                    </a:p>
                  </a:txBody>
                  <a:tcPr marT="27432" marB="27432" anchor="ctr">
                    <a:solidFill>
                      <a:srgbClr val="FFFFFF"/>
                    </a:solidFill>
                  </a:tcPr>
                </a:tc>
                <a:tc>
                  <a:txBody>
                    <a:bodyPr/>
                    <a:lstStyle/>
                    <a:p>
                      <a:pPr algn="ctr"/>
                      <a:r>
                        <a:rPr sz="1800" b="0">
                          <a:solidFill>
                            <a:srgbClr val="1F2933"/>
                          </a:solidFill>
                          <a:latin typeface="Calibri"/>
                        </a:rPr>
                        <a:t>13</a:t>
                      </a:r>
                    </a:p>
                  </a:txBody>
                  <a:tcPr marT="27432" marB="27432" anchor="ctr">
                    <a:solidFill>
                      <a:srgbClr val="FFFFFF"/>
                    </a:solidFill>
                  </a:tcPr>
                </a:tc>
                <a:tc>
                  <a:txBody>
                    <a:bodyPr/>
                    <a:lstStyle/>
                    <a:p>
                      <a:pPr algn="ctr"/>
                      <a:r>
                        <a:rPr sz="1800" b="0">
                          <a:solidFill>
                            <a:srgbClr val="1F2933"/>
                          </a:solidFill>
                          <a:latin typeface="Calibri"/>
                        </a:rPr>
                        <a:t>0</a:t>
                      </a:r>
                    </a:p>
                  </a:txBody>
                  <a:tcPr marT="27432" marB="27432" anchor="ctr">
                    <a:solidFill>
                      <a:srgbClr val="FFFFFF"/>
                    </a:solidFill>
                  </a:tcPr>
                </a:tc>
                <a:extLst>
                  <a:ext uri="{0D108BD9-81ED-4DB2-BD59-A6C34878D82A}">
                    <a16:rowId xmlns:a16="http://schemas.microsoft.com/office/drawing/2014/main" val="10002"/>
                  </a:ext>
                </a:extLst>
              </a:tr>
              <a:tr h="566928">
                <a:tc>
                  <a:txBody>
                    <a:bodyPr/>
                    <a:lstStyle/>
                    <a:p>
                      <a:pPr algn="l"/>
                      <a:r>
                        <a:rPr sz="1800" b="1">
                          <a:solidFill>
                            <a:srgbClr val="1F2933"/>
                          </a:solidFill>
                          <a:latin typeface="Calibri"/>
                        </a:rPr>
                        <a:t>OTHER</a:t>
                      </a:r>
                    </a:p>
                  </a:txBody>
                  <a:tcPr marT="27432" marB="27432" anchor="ctr">
                    <a:solidFill>
                      <a:srgbClr val="F1F4F7"/>
                    </a:solidFill>
                  </a:tcPr>
                </a:tc>
                <a:tc>
                  <a:txBody>
                    <a:bodyPr/>
                    <a:lstStyle/>
                    <a:p>
                      <a:pPr algn="ctr"/>
                      <a:r>
                        <a:rPr sz="1800" b="0">
                          <a:solidFill>
                            <a:srgbClr val="1F2933"/>
                          </a:solidFill>
                          <a:latin typeface="Calibri"/>
                        </a:rPr>
                        <a:t>0</a:t>
                      </a:r>
                    </a:p>
                  </a:txBody>
                  <a:tcPr marT="27432" marB="27432" anchor="ctr">
                    <a:solidFill>
                      <a:srgbClr val="F1F4F7"/>
                    </a:solidFill>
                  </a:tcPr>
                </a:tc>
                <a:tc>
                  <a:txBody>
                    <a:bodyPr/>
                    <a:lstStyle/>
                    <a:p>
                      <a:pPr algn="ctr"/>
                      <a:r>
                        <a:rPr sz="1800" b="0">
                          <a:solidFill>
                            <a:srgbClr val="1F2933"/>
                          </a:solidFill>
                          <a:latin typeface="Calibri"/>
                        </a:rPr>
                        <a:t>0</a:t>
                      </a:r>
                    </a:p>
                  </a:txBody>
                  <a:tcPr marT="27432" marB="27432" anchor="ctr">
                    <a:solidFill>
                      <a:srgbClr val="F1F4F7"/>
                    </a:solidFill>
                  </a:tcPr>
                </a:tc>
                <a:tc>
                  <a:txBody>
                    <a:bodyPr/>
                    <a:lstStyle/>
                    <a:p>
                      <a:pPr algn="ctr"/>
                      <a:r>
                        <a:rPr sz="1800" b="0">
                          <a:solidFill>
                            <a:srgbClr val="1F2933"/>
                          </a:solidFill>
                          <a:latin typeface="Calibri"/>
                        </a:rPr>
                        <a:t>20</a:t>
                      </a:r>
                    </a:p>
                  </a:txBody>
                  <a:tcPr marT="27432" marB="27432" anchor="ctr">
                    <a:solidFill>
                      <a:srgbClr val="F1F4F7"/>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4206240"/>
            <a:ext cx="5303520" cy="365760"/>
          </a:xfrm>
          <a:prstGeom prst="rect">
            <a:avLst/>
          </a:prstGeom>
          <a:noFill/>
        </p:spPr>
        <p:txBody>
          <a:bodyPr wrap="square" lIns="0" tIns="0" rIns="0" bIns="0" anchor="t">
            <a:spAutoFit/>
          </a:bodyPr>
          <a:lstStyle/>
          <a:p>
            <a:pPr algn="l"/>
            <a:r>
              <a:rPr sz="1400" b="1" i="0">
                <a:solidFill>
                  <a:srgbClr val="5B6573"/>
                </a:solidFill>
                <a:latin typeface="Calibri"/>
              </a:rPr>
              <a:t>Per-class metrics</a:t>
            </a:r>
          </a:p>
        </p:txBody>
      </p:sp>
      <p:graphicFrame>
        <p:nvGraphicFramePr>
          <p:cNvPr id="6" name="Table 5"/>
          <p:cNvGraphicFramePr>
            <a:graphicFrameLocks noGrp="1"/>
          </p:cNvGraphicFramePr>
          <p:nvPr/>
        </p:nvGraphicFramePr>
        <p:xfrm>
          <a:off x="548640" y="4617720"/>
          <a:ext cx="5303520" cy="1536192"/>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84048">
                <a:tc>
                  <a:txBody>
                    <a:bodyPr/>
                    <a:lstStyle/>
                    <a:p>
                      <a:pPr algn="l"/>
                      <a:r>
                        <a:rPr sz="1400" b="1">
                          <a:solidFill>
                            <a:srgbClr val="FFFFFF"/>
                          </a:solidFill>
                          <a:latin typeface="Calibri"/>
                        </a:rPr>
                        <a:t>Class</a:t>
                      </a:r>
                    </a:p>
                  </a:txBody>
                  <a:tcPr marT="27432" marB="27432" anchor="ctr">
                    <a:solidFill>
                      <a:srgbClr val="14213D"/>
                    </a:solidFill>
                  </a:tcPr>
                </a:tc>
                <a:tc>
                  <a:txBody>
                    <a:bodyPr/>
                    <a:lstStyle/>
                    <a:p>
                      <a:pPr algn="ctr"/>
                      <a:r>
                        <a:rPr sz="1400" b="1">
                          <a:solidFill>
                            <a:srgbClr val="FFFFFF"/>
                          </a:solidFill>
                          <a:latin typeface="Calibri"/>
                        </a:rPr>
                        <a:t>Precision</a:t>
                      </a:r>
                    </a:p>
                  </a:txBody>
                  <a:tcPr marT="27432" marB="27432" anchor="ctr">
                    <a:solidFill>
                      <a:srgbClr val="14213D"/>
                    </a:solidFill>
                  </a:tcPr>
                </a:tc>
                <a:tc>
                  <a:txBody>
                    <a:bodyPr/>
                    <a:lstStyle/>
                    <a:p>
                      <a:pPr algn="ctr"/>
                      <a:r>
                        <a:rPr sz="1400" b="1">
                          <a:solidFill>
                            <a:srgbClr val="FFFFFF"/>
                          </a:solidFill>
                          <a:latin typeface="Calibri"/>
                        </a:rPr>
                        <a:t>Recall</a:t>
                      </a:r>
                    </a:p>
                  </a:txBody>
                  <a:tcPr marT="27432" marB="27432" anchor="ctr">
                    <a:solidFill>
                      <a:srgbClr val="14213D"/>
                    </a:solidFill>
                  </a:tcPr>
                </a:tc>
                <a:tc>
                  <a:txBody>
                    <a:bodyPr/>
                    <a:lstStyle/>
                    <a:p>
                      <a:pPr algn="ctr"/>
                      <a:r>
                        <a:rPr sz="1400" b="1">
                          <a:solidFill>
                            <a:srgbClr val="FFFFFF"/>
                          </a:solidFill>
                          <a:latin typeface="Calibri"/>
                        </a:rPr>
                        <a:t>F1</a:t>
                      </a:r>
                    </a:p>
                  </a:txBody>
                  <a:tcPr marT="27432" marB="27432" anchor="ctr">
                    <a:solidFill>
                      <a:srgbClr val="14213D"/>
                    </a:solidFill>
                  </a:tcPr>
                </a:tc>
                <a:tc>
                  <a:txBody>
                    <a:bodyPr/>
                    <a:lstStyle/>
                    <a:p>
                      <a:pPr algn="ctr"/>
                      <a:r>
                        <a:rPr sz="1400" b="1">
                          <a:solidFill>
                            <a:srgbClr val="FFFFFF"/>
                          </a:solidFill>
                          <a:latin typeface="Calibri"/>
                        </a:rPr>
                        <a:t>n</a:t>
                      </a:r>
                    </a:p>
                  </a:txBody>
                  <a:tcPr marT="27432" marB="27432" anchor="ctr">
                    <a:solidFill>
                      <a:srgbClr val="14213D"/>
                    </a:solidFill>
                  </a:tcPr>
                </a:tc>
                <a:extLst>
                  <a:ext uri="{0D108BD9-81ED-4DB2-BD59-A6C34878D82A}">
                    <a16:rowId xmlns:a16="http://schemas.microsoft.com/office/drawing/2014/main" val="10000"/>
                  </a:ext>
                </a:extLst>
              </a:tr>
              <a:tr h="384048">
                <a:tc>
                  <a:txBody>
                    <a:bodyPr/>
                    <a:lstStyle/>
                    <a:p>
                      <a:pPr algn="l"/>
                      <a:r>
                        <a:rPr sz="1400" b="1">
                          <a:solidFill>
                            <a:srgbClr val="1F2933"/>
                          </a:solidFill>
                          <a:latin typeface="Calibri"/>
                        </a:rPr>
                        <a:t>FAF</a:t>
                      </a:r>
                    </a:p>
                  </a:txBody>
                  <a:tcPr marT="27432" marB="27432" anchor="ctr">
                    <a:solidFill>
                      <a:srgbClr val="F1F4F7"/>
                    </a:solidFill>
                  </a:tcPr>
                </a:tc>
                <a:tc>
                  <a:txBody>
                    <a:bodyPr/>
                    <a:lstStyle/>
                    <a:p>
                      <a:pPr algn="ctr"/>
                      <a:r>
                        <a:rPr sz="1400" b="0">
                          <a:solidFill>
                            <a:srgbClr val="1F2933"/>
                          </a:solidFill>
                          <a:latin typeface="Calibri"/>
                        </a:rPr>
                        <a:t>1.000</a:t>
                      </a:r>
                    </a:p>
                  </a:txBody>
                  <a:tcPr marT="27432" marB="27432" anchor="ctr">
                    <a:solidFill>
                      <a:srgbClr val="F1F4F7"/>
                    </a:solidFill>
                  </a:tcPr>
                </a:tc>
                <a:tc>
                  <a:txBody>
                    <a:bodyPr/>
                    <a:lstStyle/>
                    <a:p>
                      <a:pPr algn="ctr"/>
                      <a:r>
                        <a:rPr sz="1400" b="0">
                          <a:solidFill>
                            <a:srgbClr val="1F2933"/>
                          </a:solidFill>
                          <a:latin typeface="Calibri"/>
                        </a:rPr>
                        <a:t>1.000</a:t>
                      </a:r>
                    </a:p>
                  </a:txBody>
                  <a:tcPr marT="27432" marB="27432" anchor="ctr">
                    <a:solidFill>
                      <a:srgbClr val="F1F4F7"/>
                    </a:solidFill>
                  </a:tcPr>
                </a:tc>
                <a:tc>
                  <a:txBody>
                    <a:bodyPr/>
                    <a:lstStyle/>
                    <a:p>
                      <a:pPr algn="ctr"/>
                      <a:r>
                        <a:rPr sz="1400" b="0">
                          <a:solidFill>
                            <a:srgbClr val="1F2933"/>
                          </a:solidFill>
                          <a:latin typeface="Calibri"/>
                        </a:rPr>
                        <a:t>1.000</a:t>
                      </a:r>
                    </a:p>
                  </a:txBody>
                  <a:tcPr marT="27432" marB="27432" anchor="ctr">
                    <a:solidFill>
                      <a:srgbClr val="F1F4F7"/>
                    </a:solidFill>
                  </a:tcPr>
                </a:tc>
                <a:tc>
                  <a:txBody>
                    <a:bodyPr/>
                    <a:lstStyle/>
                    <a:p>
                      <a:pPr algn="ctr"/>
                      <a:r>
                        <a:rPr sz="1400" b="0">
                          <a:solidFill>
                            <a:srgbClr val="1F2933"/>
                          </a:solidFill>
                          <a:latin typeface="Calibri"/>
                        </a:rPr>
                        <a:t>22</a:t>
                      </a:r>
                    </a:p>
                  </a:txBody>
                  <a:tcPr marT="27432" marB="27432" anchor="ctr">
                    <a:solidFill>
                      <a:srgbClr val="F1F4F7"/>
                    </a:solidFill>
                  </a:tcPr>
                </a:tc>
                <a:extLst>
                  <a:ext uri="{0D108BD9-81ED-4DB2-BD59-A6C34878D82A}">
                    <a16:rowId xmlns:a16="http://schemas.microsoft.com/office/drawing/2014/main" val="10001"/>
                  </a:ext>
                </a:extLst>
              </a:tr>
              <a:tr h="384048">
                <a:tc>
                  <a:txBody>
                    <a:bodyPr/>
                    <a:lstStyle/>
                    <a:p>
                      <a:pPr algn="l"/>
                      <a:r>
                        <a:rPr sz="1400" b="1">
                          <a:solidFill>
                            <a:srgbClr val="1F2933"/>
                          </a:solidFill>
                          <a:latin typeface="Calibri"/>
                        </a:rPr>
                        <a:t>IR</a:t>
                      </a:r>
                    </a:p>
                  </a:txBody>
                  <a:tcPr marT="27432" marB="27432" anchor="ctr">
                    <a:solidFill>
                      <a:srgbClr val="FFFFFF"/>
                    </a:solidFill>
                  </a:tcPr>
                </a:tc>
                <a:tc>
                  <a:txBody>
                    <a:bodyPr/>
                    <a:lstStyle/>
                    <a:p>
                      <a:pPr algn="ctr"/>
                      <a:r>
                        <a:rPr sz="1400" b="0">
                          <a:solidFill>
                            <a:srgbClr val="1F2933"/>
                          </a:solidFill>
                          <a:latin typeface="Calibri"/>
                        </a:rPr>
                        <a:t>1.000</a:t>
                      </a:r>
                    </a:p>
                  </a:txBody>
                  <a:tcPr marT="27432" marB="27432" anchor="ctr">
                    <a:solidFill>
                      <a:srgbClr val="FFFFFF"/>
                    </a:solidFill>
                  </a:tcPr>
                </a:tc>
                <a:tc>
                  <a:txBody>
                    <a:bodyPr/>
                    <a:lstStyle/>
                    <a:p>
                      <a:pPr algn="ctr"/>
                      <a:r>
                        <a:rPr sz="1400" b="0">
                          <a:solidFill>
                            <a:srgbClr val="1F2933"/>
                          </a:solidFill>
                          <a:latin typeface="Calibri"/>
                        </a:rPr>
                        <a:t>1.000</a:t>
                      </a:r>
                    </a:p>
                  </a:txBody>
                  <a:tcPr marT="27432" marB="27432" anchor="ctr">
                    <a:solidFill>
                      <a:srgbClr val="FFFFFF"/>
                    </a:solidFill>
                  </a:tcPr>
                </a:tc>
                <a:tc>
                  <a:txBody>
                    <a:bodyPr/>
                    <a:lstStyle/>
                    <a:p>
                      <a:pPr algn="ctr"/>
                      <a:r>
                        <a:rPr sz="1400" b="0">
                          <a:solidFill>
                            <a:srgbClr val="1F2933"/>
                          </a:solidFill>
                          <a:latin typeface="Calibri"/>
                        </a:rPr>
                        <a:t>1.000</a:t>
                      </a:r>
                    </a:p>
                  </a:txBody>
                  <a:tcPr marT="27432" marB="27432" anchor="ctr">
                    <a:solidFill>
                      <a:srgbClr val="FFFFFF"/>
                    </a:solidFill>
                  </a:tcPr>
                </a:tc>
                <a:tc>
                  <a:txBody>
                    <a:bodyPr/>
                    <a:lstStyle/>
                    <a:p>
                      <a:pPr algn="ctr"/>
                      <a:r>
                        <a:rPr sz="1400" b="0">
                          <a:solidFill>
                            <a:srgbClr val="1F2933"/>
                          </a:solidFill>
                          <a:latin typeface="Calibri"/>
                        </a:rPr>
                        <a:t>13</a:t>
                      </a:r>
                    </a:p>
                  </a:txBody>
                  <a:tcPr marT="27432" marB="27432" anchor="ctr">
                    <a:solidFill>
                      <a:srgbClr val="FFFFFF"/>
                    </a:solidFill>
                  </a:tcPr>
                </a:tc>
                <a:extLst>
                  <a:ext uri="{0D108BD9-81ED-4DB2-BD59-A6C34878D82A}">
                    <a16:rowId xmlns:a16="http://schemas.microsoft.com/office/drawing/2014/main" val="10002"/>
                  </a:ext>
                </a:extLst>
              </a:tr>
              <a:tr h="384048">
                <a:tc>
                  <a:txBody>
                    <a:bodyPr/>
                    <a:lstStyle/>
                    <a:p>
                      <a:pPr algn="l"/>
                      <a:r>
                        <a:rPr sz="1400" b="1">
                          <a:solidFill>
                            <a:srgbClr val="1F2933"/>
                          </a:solidFill>
                          <a:latin typeface="Calibri"/>
                        </a:rPr>
                        <a:t>OTHER</a:t>
                      </a:r>
                    </a:p>
                  </a:txBody>
                  <a:tcPr marT="27432" marB="27432" anchor="ctr">
                    <a:solidFill>
                      <a:srgbClr val="F1F4F7"/>
                    </a:solidFill>
                  </a:tcPr>
                </a:tc>
                <a:tc>
                  <a:txBody>
                    <a:bodyPr/>
                    <a:lstStyle/>
                    <a:p>
                      <a:pPr algn="ctr"/>
                      <a:r>
                        <a:rPr sz="1400" b="0">
                          <a:solidFill>
                            <a:srgbClr val="1F2933"/>
                          </a:solidFill>
                          <a:latin typeface="Calibri"/>
                        </a:rPr>
                        <a:t>1.000</a:t>
                      </a:r>
                    </a:p>
                  </a:txBody>
                  <a:tcPr marT="27432" marB="27432" anchor="ctr">
                    <a:solidFill>
                      <a:srgbClr val="F1F4F7"/>
                    </a:solidFill>
                  </a:tcPr>
                </a:tc>
                <a:tc>
                  <a:txBody>
                    <a:bodyPr/>
                    <a:lstStyle/>
                    <a:p>
                      <a:pPr algn="ctr"/>
                      <a:r>
                        <a:rPr sz="1400" b="0">
                          <a:solidFill>
                            <a:srgbClr val="1F2933"/>
                          </a:solidFill>
                          <a:latin typeface="Calibri"/>
                        </a:rPr>
                        <a:t>1.000</a:t>
                      </a:r>
                    </a:p>
                  </a:txBody>
                  <a:tcPr marT="27432" marB="27432" anchor="ctr">
                    <a:solidFill>
                      <a:srgbClr val="F1F4F7"/>
                    </a:solidFill>
                  </a:tcPr>
                </a:tc>
                <a:tc>
                  <a:txBody>
                    <a:bodyPr/>
                    <a:lstStyle/>
                    <a:p>
                      <a:pPr algn="ctr"/>
                      <a:r>
                        <a:rPr sz="1400" b="0">
                          <a:solidFill>
                            <a:srgbClr val="1F2933"/>
                          </a:solidFill>
                          <a:latin typeface="Calibri"/>
                        </a:rPr>
                        <a:t>1.000</a:t>
                      </a:r>
                    </a:p>
                  </a:txBody>
                  <a:tcPr marT="27432" marB="27432" anchor="ctr">
                    <a:solidFill>
                      <a:srgbClr val="F1F4F7"/>
                    </a:solidFill>
                  </a:tcPr>
                </a:tc>
                <a:tc>
                  <a:txBody>
                    <a:bodyPr/>
                    <a:lstStyle/>
                    <a:p>
                      <a:pPr algn="ctr"/>
                      <a:r>
                        <a:rPr sz="1400" b="0">
                          <a:solidFill>
                            <a:srgbClr val="1F2933"/>
                          </a:solidFill>
                          <a:latin typeface="Calibri"/>
                        </a:rPr>
                        <a:t>20</a:t>
                      </a:r>
                    </a:p>
                  </a:txBody>
                  <a:tcPr marT="27432" marB="27432" anchor="ctr">
                    <a:solidFill>
                      <a:srgbClr val="F1F4F7"/>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6400800" y="1371600"/>
            <a:ext cx="5212080" cy="141732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0" y="1481328"/>
            <a:ext cx="4754880" cy="777240"/>
          </a:xfrm>
          <a:prstGeom prst="rect">
            <a:avLst/>
          </a:prstGeom>
          <a:noFill/>
        </p:spPr>
        <p:txBody>
          <a:bodyPr wrap="square" lIns="0" tIns="0" rIns="0" bIns="0" anchor="ctr">
            <a:spAutoFit/>
          </a:bodyPr>
          <a:lstStyle/>
          <a:p>
            <a:pPr algn="l"/>
            <a:r>
              <a:rPr sz="4000" b="1" i="0">
                <a:solidFill>
                  <a:srgbClr val="14213D"/>
                </a:solidFill>
                <a:latin typeface="Cambria"/>
              </a:rPr>
              <a:t>100%</a:t>
            </a:r>
          </a:p>
        </p:txBody>
      </p:sp>
      <p:sp>
        <p:nvSpPr>
          <p:cNvPr id="9" name="TextBox 8"/>
          <p:cNvSpPr txBox="1"/>
          <p:nvPr/>
        </p:nvSpPr>
        <p:spPr>
          <a:xfrm>
            <a:off x="6675120" y="2267712"/>
            <a:ext cx="4754880" cy="411480"/>
          </a:xfrm>
          <a:prstGeom prst="rect">
            <a:avLst/>
          </a:prstGeom>
          <a:noFill/>
        </p:spPr>
        <p:txBody>
          <a:bodyPr wrap="square" lIns="0" tIns="0" rIns="0" bIns="0" anchor="t">
            <a:spAutoFit/>
          </a:bodyPr>
          <a:lstStyle/>
          <a:p>
            <a:pPr algn="l"/>
            <a:r>
              <a:rPr sz="1400" b="0" i="0">
                <a:solidFill>
                  <a:srgbClr val="5B6573"/>
                </a:solidFill>
                <a:latin typeface="Calibri"/>
              </a:rPr>
              <a:t>Test accuracy</a:t>
            </a:r>
          </a:p>
        </p:txBody>
      </p:sp>
      <p:sp>
        <p:nvSpPr>
          <p:cNvPr id="10" name="Rounded Rectangle 9"/>
          <p:cNvSpPr/>
          <p:nvPr/>
        </p:nvSpPr>
        <p:spPr>
          <a:xfrm>
            <a:off x="6400800" y="2971800"/>
            <a:ext cx="5212080" cy="141732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3081528"/>
            <a:ext cx="4754880" cy="777240"/>
          </a:xfrm>
          <a:prstGeom prst="rect">
            <a:avLst/>
          </a:prstGeom>
          <a:noFill/>
        </p:spPr>
        <p:txBody>
          <a:bodyPr wrap="square" lIns="0" tIns="0" rIns="0" bIns="0" anchor="ctr">
            <a:spAutoFit/>
          </a:bodyPr>
          <a:lstStyle/>
          <a:p>
            <a:pPr algn="l"/>
            <a:r>
              <a:rPr sz="4000" b="1" i="0">
                <a:solidFill>
                  <a:srgbClr val="14213D"/>
                </a:solidFill>
                <a:latin typeface="Cambria"/>
              </a:rPr>
              <a:t>1.000</a:t>
            </a:r>
          </a:p>
        </p:txBody>
      </p:sp>
      <p:sp>
        <p:nvSpPr>
          <p:cNvPr id="12" name="TextBox 11"/>
          <p:cNvSpPr txBox="1"/>
          <p:nvPr/>
        </p:nvSpPr>
        <p:spPr>
          <a:xfrm>
            <a:off x="6675120" y="3867912"/>
            <a:ext cx="4754880" cy="411480"/>
          </a:xfrm>
          <a:prstGeom prst="rect">
            <a:avLst/>
          </a:prstGeom>
          <a:noFill/>
        </p:spPr>
        <p:txBody>
          <a:bodyPr wrap="square" lIns="0" tIns="0" rIns="0" bIns="0" anchor="t">
            <a:spAutoFit/>
          </a:bodyPr>
          <a:lstStyle/>
          <a:p>
            <a:pPr algn="l"/>
            <a:r>
              <a:rPr sz="1400" b="0" i="0">
                <a:solidFill>
                  <a:srgbClr val="5B6573"/>
                </a:solidFill>
                <a:latin typeface="Calibri"/>
              </a:rPr>
              <a:t>Test macro-F1</a:t>
            </a:r>
          </a:p>
        </p:txBody>
      </p:sp>
      <p:sp>
        <p:nvSpPr>
          <p:cNvPr id="13" name="Rounded Rectangle 12"/>
          <p:cNvSpPr/>
          <p:nvPr/>
        </p:nvSpPr>
        <p:spPr>
          <a:xfrm>
            <a:off x="6400800" y="4572000"/>
            <a:ext cx="5212080" cy="141732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0" y="4681728"/>
            <a:ext cx="4754880" cy="777240"/>
          </a:xfrm>
          <a:prstGeom prst="rect">
            <a:avLst/>
          </a:prstGeom>
          <a:noFill/>
        </p:spPr>
        <p:txBody>
          <a:bodyPr wrap="square" lIns="0" tIns="0" rIns="0" bIns="0" anchor="ctr">
            <a:spAutoFit/>
          </a:bodyPr>
          <a:lstStyle/>
          <a:p>
            <a:pPr algn="l"/>
            <a:r>
              <a:rPr sz="4000" b="1" i="0">
                <a:solidFill>
                  <a:srgbClr val="14213D"/>
                </a:solidFill>
                <a:latin typeface="Cambria"/>
              </a:rPr>
              <a:t>93.5–100%</a:t>
            </a:r>
          </a:p>
        </p:txBody>
      </p:sp>
      <p:sp>
        <p:nvSpPr>
          <p:cNvPr id="15" name="TextBox 14"/>
          <p:cNvSpPr txBox="1"/>
          <p:nvPr/>
        </p:nvSpPr>
        <p:spPr>
          <a:xfrm>
            <a:off x="6675120" y="5468112"/>
            <a:ext cx="4754880" cy="411480"/>
          </a:xfrm>
          <a:prstGeom prst="rect">
            <a:avLst/>
          </a:prstGeom>
          <a:noFill/>
        </p:spPr>
        <p:txBody>
          <a:bodyPr wrap="square" lIns="0" tIns="0" rIns="0" bIns="0" anchor="t">
            <a:spAutoFit/>
          </a:bodyPr>
          <a:lstStyle/>
          <a:p>
            <a:pPr algn="l"/>
            <a:r>
              <a:rPr sz="1400" b="0" i="0">
                <a:solidFill>
                  <a:srgbClr val="5B6573"/>
                </a:solidFill>
                <a:latin typeface="Calibri"/>
              </a:rPr>
              <a:t>95% CI for accuracy (n = 55)</a:t>
            </a:r>
          </a:p>
        </p:txBody>
      </p:sp>
      <p:sp>
        <p:nvSpPr>
          <p:cNvPr id="16" name="TextBox 15"/>
          <p:cNvSpPr txBox="1"/>
          <p:nvPr/>
        </p:nvSpPr>
        <p:spPr>
          <a:xfrm>
            <a:off x="6400800" y="6217920"/>
            <a:ext cx="5212080" cy="365760"/>
          </a:xfrm>
          <a:prstGeom prst="rect">
            <a:avLst/>
          </a:prstGeom>
          <a:noFill/>
        </p:spPr>
        <p:txBody>
          <a:bodyPr wrap="square" lIns="0" tIns="0" rIns="0" bIns="0" anchor="t">
            <a:spAutoFit/>
          </a:bodyPr>
          <a:lstStyle/>
          <a:p>
            <a:pPr algn="l"/>
            <a:r>
              <a:rPr sz="1200" b="0" i="0">
                <a:solidFill>
                  <a:srgbClr val="5B6573"/>
                </a:solidFill>
                <a:latin typeface="Calibri"/>
              </a:rPr>
              <a:t>Model: DenseNet-121, retrained on all 253 images for 3 epochs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Grad-CAM: where does the model look?</a:t>
            </a:r>
          </a:p>
        </p:txBody>
      </p:sp>
      <p:sp>
        <p:nvSpPr>
          <p:cNvPr id="3" name="Oval 2"/>
          <p:cNvSpPr/>
          <p:nvPr/>
        </p:nvSpPr>
        <p:spPr>
          <a:xfrm>
            <a:off x="548640" y="1463040"/>
            <a:ext cx="502920" cy="50292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14213D"/>
                </a:solidFill>
                <a:latin typeface="Calibri"/>
              </a:rPr>
              <a:t>1</a:t>
            </a:r>
          </a:p>
        </p:txBody>
      </p:sp>
      <p:sp>
        <p:nvSpPr>
          <p:cNvPr id="4" name="TextBox 3"/>
          <p:cNvSpPr txBox="1"/>
          <p:nvPr/>
        </p:nvSpPr>
        <p:spPr>
          <a:xfrm>
            <a:off x="1234440" y="1417320"/>
            <a:ext cx="4023360" cy="868680"/>
          </a:xfrm>
          <a:prstGeom prst="rect">
            <a:avLst/>
          </a:prstGeom>
          <a:noFill/>
        </p:spPr>
        <p:txBody>
          <a:bodyPr wrap="square" lIns="0" tIns="0" rIns="0" bIns="0" anchor="ctr">
            <a:spAutoFit/>
          </a:bodyPr>
          <a:lstStyle/>
          <a:p>
            <a:pPr algn="l"/>
            <a:r>
              <a:rPr sz="1600" b="0" i="0">
                <a:solidFill>
                  <a:srgbClr val="1F2933"/>
                </a:solidFill>
                <a:latin typeface="Calibri"/>
              </a:rPr>
              <a:t>Forward pass; take the predicted class score</a:t>
            </a:r>
          </a:p>
        </p:txBody>
      </p:sp>
      <p:sp>
        <p:nvSpPr>
          <p:cNvPr id="5" name="Oval 4"/>
          <p:cNvSpPr/>
          <p:nvPr/>
        </p:nvSpPr>
        <p:spPr>
          <a:xfrm>
            <a:off x="548640" y="2487168"/>
            <a:ext cx="502920" cy="50292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14213D"/>
                </a:solidFill>
                <a:latin typeface="Calibri"/>
              </a:rPr>
              <a:t>2</a:t>
            </a:r>
          </a:p>
        </p:txBody>
      </p:sp>
      <p:sp>
        <p:nvSpPr>
          <p:cNvPr id="6" name="TextBox 5"/>
          <p:cNvSpPr txBox="1"/>
          <p:nvPr/>
        </p:nvSpPr>
        <p:spPr>
          <a:xfrm>
            <a:off x="1234440" y="2383346"/>
            <a:ext cx="4023360" cy="984885"/>
          </a:xfrm>
          <a:prstGeom prst="rect">
            <a:avLst/>
          </a:prstGeom>
          <a:noFill/>
        </p:spPr>
        <p:txBody>
          <a:bodyPr wrap="square" lIns="0" tIns="0" rIns="0" bIns="0" anchor="ctr">
            <a:spAutoFit/>
          </a:bodyPr>
          <a:lstStyle/>
          <a:p>
            <a:pPr marL="285750" indent="-285750">
              <a:buFont typeface="Arial"/>
              <a:buChar char="•"/>
            </a:pPr>
            <a:r>
              <a:rPr lang="en-US" sz="1600">
                <a:ea typeface="+mn-lt"/>
                <a:cs typeface="+mn-lt"/>
              </a:rPr>
              <a:t>Compute how sensitive the class score is to each region </a:t>
            </a:r>
            <a:r>
              <a:rPr lang="en-US" sz="1600" i="0">
                <a:ea typeface="+mn-lt"/>
                <a:cs typeface="+mn-lt"/>
              </a:rPr>
              <a:t>of the </a:t>
            </a:r>
            <a:r>
              <a:rPr lang="en-US" sz="1600">
                <a:ea typeface="+mn-lt"/>
                <a:cs typeface="+mn-lt"/>
              </a:rPr>
              <a:t>final </a:t>
            </a:r>
            <a:r>
              <a:rPr lang="en-US" sz="1600" i="0">
                <a:ea typeface="+mn-lt"/>
                <a:cs typeface="+mn-lt"/>
              </a:rPr>
              <a:t>feature maps (10×10</a:t>
            </a:r>
            <a:r>
              <a:rPr lang="en-US" sz="1600">
                <a:ea typeface="+mn-lt"/>
                <a:cs typeface="+mn-lt"/>
              </a:rPr>
              <a:t>).</a:t>
            </a:r>
            <a:endParaRPr lang="en-US" sz="1600">
              <a:ea typeface="Calibri"/>
              <a:cs typeface="Calibri"/>
            </a:endParaRPr>
          </a:p>
          <a:p>
            <a:pPr algn="l"/>
            <a:endParaRPr sz="1600" b="0" i="0" dirty="0">
              <a:solidFill>
                <a:srgbClr val="1F2933"/>
              </a:solidFill>
              <a:latin typeface="Calibri"/>
              <a:ea typeface="Calibri"/>
              <a:cs typeface="Calibri"/>
            </a:endParaRPr>
          </a:p>
        </p:txBody>
      </p:sp>
      <p:sp>
        <p:nvSpPr>
          <p:cNvPr id="7" name="Oval 6"/>
          <p:cNvSpPr/>
          <p:nvPr/>
        </p:nvSpPr>
        <p:spPr>
          <a:xfrm>
            <a:off x="548640" y="3511296"/>
            <a:ext cx="502920" cy="50292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14213D"/>
                </a:solidFill>
                <a:latin typeface="Calibri"/>
              </a:rPr>
              <a:t>3</a:t>
            </a:r>
          </a:p>
        </p:txBody>
      </p:sp>
      <p:sp>
        <p:nvSpPr>
          <p:cNvPr id="8" name="TextBox 7"/>
          <p:cNvSpPr txBox="1"/>
          <p:nvPr/>
        </p:nvSpPr>
        <p:spPr>
          <a:xfrm>
            <a:off x="1234440" y="3465576"/>
            <a:ext cx="4023360" cy="868680"/>
          </a:xfrm>
          <a:prstGeom prst="rect">
            <a:avLst/>
          </a:prstGeom>
          <a:noFill/>
        </p:spPr>
        <p:txBody>
          <a:bodyPr wrap="square" lIns="0" tIns="0" rIns="0" bIns="0" anchor="ctr">
            <a:spAutoFit/>
          </a:bodyPr>
          <a:lstStyle/>
          <a:p>
            <a:pPr algn="l"/>
            <a:r>
              <a:rPr sz="1600" b="0" i="0">
                <a:solidFill>
                  <a:srgbClr val="1F2933"/>
                </a:solidFill>
                <a:latin typeface="Calibri"/>
              </a:rPr>
              <a:t>Weight each map by its mean gradient, sum, keep positives (ReLU)</a:t>
            </a:r>
          </a:p>
        </p:txBody>
      </p:sp>
      <p:sp>
        <p:nvSpPr>
          <p:cNvPr id="9" name="Oval 8"/>
          <p:cNvSpPr/>
          <p:nvPr/>
        </p:nvSpPr>
        <p:spPr>
          <a:xfrm>
            <a:off x="548640" y="4535424"/>
            <a:ext cx="502920" cy="50292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14213D"/>
                </a:solidFill>
                <a:latin typeface="Calibri"/>
              </a:rPr>
              <a:t>4</a:t>
            </a:r>
          </a:p>
        </p:txBody>
      </p:sp>
      <p:sp>
        <p:nvSpPr>
          <p:cNvPr id="10" name="TextBox 9"/>
          <p:cNvSpPr txBox="1"/>
          <p:nvPr/>
        </p:nvSpPr>
        <p:spPr>
          <a:xfrm>
            <a:off x="1234440" y="4489704"/>
            <a:ext cx="4023360" cy="868680"/>
          </a:xfrm>
          <a:prstGeom prst="rect">
            <a:avLst/>
          </a:prstGeom>
          <a:noFill/>
        </p:spPr>
        <p:txBody>
          <a:bodyPr wrap="square" lIns="0" tIns="0" rIns="0" bIns="0" anchor="ctr">
            <a:spAutoFit/>
          </a:bodyPr>
          <a:lstStyle/>
          <a:p>
            <a:pPr algn="l"/>
            <a:r>
              <a:rPr sz="1600" b="0" i="0">
                <a:solidFill>
                  <a:srgbClr val="1F2933"/>
                </a:solidFill>
                <a:latin typeface="Calibri"/>
              </a:rPr>
              <a:t>Upsample to 330×330 and overlay; red = strongest evidence</a:t>
            </a:r>
          </a:p>
        </p:txBody>
      </p:sp>
      <p:sp>
        <p:nvSpPr>
          <p:cNvPr id="11" name="TextBox 10"/>
          <p:cNvSpPr txBox="1"/>
          <p:nvPr/>
        </p:nvSpPr>
        <p:spPr>
          <a:xfrm>
            <a:off x="548640" y="5715000"/>
            <a:ext cx="4754880" cy="731520"/>
          </a:xfrm>
          <a:prstGeom prst="rect">
            <a:avLst/>
          </a:prstGeom>
          <a:noFill/>
        </p:spPr>
        <p:txBody>
          <a:bodyPr wrap="square" lIns="0" tIns="0" rIns="0" bIns="0" anchor="t">
            <a:spAutoFit/>
          </a:bodyPr>
          <a:lstStyle/>
          <a:p>
            <a:pPr algn="l"/>
            <a:r>
              <a:rPr sz="1400" b="0" i="1">
                <a:solidFill>
                  <a:srgbClr val="5B6573"/>
                </a:solidFill>
                <a:latin typeface="Calibri"/>
              </a:rPr>
              <a:t>Coarse by design: it highlights regions, not individual vessels or pixels.</a:t>
            </a:r>
          </a:p>
        </p:txBody>
      </p:sp>
      <p:pic>
        <p:nvPicPr>
          <p:cNvPr id="12" name="Picture 11" descr="0006_AF_B-0_0_orig.png"/>
          <p:cNvPicPr>
            <a:picLocks noChangeAspect="1"/>
          </p:cNvPicPr>
          <p:nvPr/>
        </p:nvPicPr>
        <p:blipFill>
          <a:blip r:embed="rId3"/>
          <a:stretch>
            <a:fillRect/>
          </a:stretch>
        </p:blipFill>
        <p:spPr>
          <a:xfrm>
            <a:off x="5623560" y="2103120"/>
            <a:ext cx="1874519" cy="1874519"/>
          </a:xfrm>
          <a:prstGeom prst="rect">
            <a:avLst/>
          </a:prstGeom>
        </p:spPr>
      </p:pic>
      <p:sp>
        <p:nvSpPr>
          <p:cNvPr id="13" name="TextBox 12"/>
          <p:cNvSpPr txBox="1"/>
          <p:nvPr/>
        </p:nvSpPr>
        <p:spPr>
          <a:xfrm>
            <a:off x="5623560" y="4032503"/>
            <a:ext cx="1874519" cy="274320"/>
          </a:xfrm>
          <a:prstGeom prst="rect">
            <a:avLst/>
          </a:prstGeom>
          <a:noFill/>
        </p:spPr>
        <p:txBody>
          <a:bodyPr wrap="square" lIns="0" tIns="0" rIns="0" bIns="0" anchor="t">
            <a:spAutoFit/>
          </a:bodyPr>
          <a:lstStyle/>
          <a:p>
            <a:pPr algn="ctr"/>
            <a:r>
              <a:rPr sz="1400" b="0" i="0">
                <a:solidFill>
                  <a:srgbClr val="1F2933"/>
                </a:solidFill>
                <a:latin typeface="Calibri"/>
              </a:rPr>
              <a:t>Original</a:t>
            </a:r>
          </a:p>
        </p:txBody>
      </p:sp>
      <p:pic>
        <p:nvPicPr>
          <p:cNvPr id="14" name="Picture 13" descr="0006_AF_B-0_0_heat.png"/>
          <p:cNvPicPr>
            <a:picLocks noChangeAspect="1"/>
          </p:cNvPicPr>
          <p:nvPr/>
        </p:nvPicPr>
        <p:blipFill>
          <a:blip r:embed="rId4"/>
          <a:stretch>
            <a:fillRect/>
          </a:stretch>
        </p:blipFill>
        <p:spPr>
          <a:xfrm>
            <a:off x="7635240" y="2103120"/>
            <a:ext cx="1874519" cy="1874519"/>
          </a:xfrm>
          <a:prstGeom prst="rect">
            <a:avLst/>
          </a:prstGeom>
        </p:spPr>
      </p:pic>
      <p:sp>
        <p:nvSpPr>
          <p:cNvPr id="15" name="TextBox 14"/>
          <p:cNvSpPr txBox="1"/>
          <p:nvPr/>
        </p:nvSpPr>
        <p:spPr>
          <a:xfrm>
            <a:off x="7635240" y="4032503"/>
            <a:ext cx="1874519" cy="274320"/>
          </a:xfrm>
          <a:prstGeom prst="rect">
            <a:avLst/>
          </a:prstGeom>
          <a:noFill/>
        </p:spPr>
        <p:txBody>
          <a:bodyPr wrap="square" lIns="0" tIns="0" rIns="0" bIns="0" anchor="t">
            <a:spAutoFit/>
          </a:bodyPr>
          <a:lstStyle/>
          <a:p>
            <a:pPr algn="ctr"/>
            <a:r>
              <a:rPr sz="1400" b="0" i="0">
                <a:solidFill>
                  <a:srgbClr val="1F2933"/>
                </a:solidFill>
                <a:latin typeface="Calibri"/>
              </a:rPr>
              <a:t>Grad-CAM heatmap</a:t>
            </a:r>
          </a:p>
        </p:txBody>
      </p:sp>
      <p:pic>
        <p:nvPicPr>
          <p:cNvPr id="16" name="Picture 15" descr="0006_AF_B-0_0_overlay.png"/>
          <p:cNvPicPr>
            <a:picLocks noChangeAspect="1"/>
          </p:cNvPicPr>
          <p:nvPr/>
        </p:nvPicPr>
        <p:blipFill>
          <a:blip r:embed="rId5"/>
          <a:stretch>
            <a:fillRect/>
          </a:stretch>
        </p:blipFill>
        <p:spPr>
          <a:xfrm>
            <a:off x="9646920" y="2103120"/>
            <a:ext cx="1874519" cy="1874519"/>
          </a:xfrm>
          <a:prstGeom prst="rect">
            <a:avLst/>
          </a:prstGeom>
        </p:spPr>
      </p:pic>
      <p:sp>
        <p:nvSpPr>
          <p:cNvPr id="17" name="TextBox 16"/>
          <p:cNvSpPr txBox="1"/>
          <p:nvPr/>
        </p:nvSpPr>
        <p:spPr>
          <a:xfrm>
            <a:off x="9646920" y="4032503"/>
            <a:ext cx="1874519" cy="274320"/>
          </a:xfrm>
          <a:prstGeom prst="rect">
            <a:avLst/>
          </a:prstGeom>
          <a:noFill/>
        </p:spPr>
        <p:txBody>
          <a:bodyPr wrap="square" lIns="0" tIns="0" rIns="0" bIns="0" anchor="t">
            <a:spAutoFit/>
          </a:bodyPr>
          <a:lstStyle/>
          <a:p>
            <a:pPr algn="ctr"/>
            <a:r>
              <a:rPr sz="1400" b="0" i="0">
                <a:solidFill>
                  <a:srgbClr val="1F2933"/>
                </a:solidFill>
                <a:latin typeface="Calibri"/>
              </a:rPr>
              <a:t>Overlay</a:t>
            </a:r>
          </a:p>
        </p:txBody>
      </p:sp>
      <p:sp>
        <p:nvSpPr>
          <p:cNvPr id="18" name="TextBox 17"/>
          <p:cNvSpPr txBox="1"/>
          <p:nvPr/>
        </p:nvSpPr>
        <p:spPr>
          <a:xfrm>
            <a:off x="5623560" y="4434840"/>
            <a:ext cx="5943600" cy="365760"/>
          </a:xfrm>
          <a:prstGeom prst="rect">
            <a:avLst/>
          </a:prstGeom>
          <a:noFill/>
        </p:spPr>
        <p:txBody>
          <a:bodyPr wrap="square" lIns="0" tIns="0" rIns="0" bIns="0" anchor="t">
            <a:spAutoFit/>
          </a:bodyPr>
          <a:lstStyle/>
          <a:p>
            <a:pPr algn="ctr"/>
            <a:r>
              <a:rPr sz="1300" b="0" i="0">
                <a:solidFill>
                  <a:srgbClr val="5B6573"/>
                </a:solidFill>
                <a:latin typeface="Calibri"/>
              </a:rPr>
              <a:t>Example: 0006_AF_B-0_0 · true FAF · Pred FAF · 99.8%</a:t>
            </a:r>
          </a:p>
        </p:txBody>
      </p:sp>
      <p:sp>
        <p:nvSpPr>
          <p:cNvPr id="19" name="Rectangle 18"/>
          <p:cNvSpPr/>
          <p:nvPr/>
        </p:nvSpPr>
        <p:spPr>
          <a:xfrm>
            <a:off x="6949440" y="5074920"/>
            <a:ext cx="365760" cy="228600"/>
          </a:xfrm>
          <a:prstGeom prst="rect">
            <a:avLst/>
          </a:prstGeom>
          <a:solidFill>
            <a:srgbClr val="000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0" y="5074920"/>
            <a:ext cx="365760" cy="228600"/>
          </a:xfrm>
          <a:prstGeom prst="rect">
            <a:avLst/>
          </a:prstGeom>
          <a:solidFill>
            <a:srgbClr val="0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680960" y="5074920"/>
            <a:ext cx="365760" cy="228600"/>
          </a:xfrm>
          <a:prstGeom prst="rect">
            <a:avLst/>
          </a:prstGeom>
          <a:solidFill>
            <a:srgbClr val="007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46720" y="5074920"/>
            <a:ext cx="365760" cy="228600"/>
          </a:xfrm>
          <a:prstGeom prst="rect">
            <a:avLst/>
          </a:prstGeom>
          <a:solidFill>
            <a:srgbClr val="00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412480" y="5074920"/>
            <a:ext cx="365760" cy="228600"/>
          </a:xfrm>
          <a:prstGeom prst="rect">
            <a:avLst/>
          </a:prstGeom>
          <a:solidFill>
            <a:srgbClr val="7FF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778240" y="5074920"/>
            <a:ext cx="365760" cy="2286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144000" y="5074920"/>
            <a:ext cx="365760" cy="228600"/>
          </a:xfrm>
          <a:prstGeom prst="rect">
            <a:avLst/>
          </a:prstGeom>
          <a:solidFill>
            <a:srgbClr val="FF7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509760" y="5074920"/>
            <a:ext cx="365760" cy="2286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875520" y="5074920"/>
            <a:ext cx="365760" cy="228600"/>
          </a:xfrm>
          <a:prstGeom prst="rect">
            <a:avLst/>
          </a:prstGeom>
          <a:solidFill>
            <a:srgbClr val="7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2160" y="5029200"/>
            <a:ext cx="1005840" cy="320040"/>
          </a:xfrm>
          <a:prstGeom prst="rect">
            <a:avLst/>
          </a:prstGeom>
          <a:noFill/>
        </p:spPr>
        <p:txBody>
          <a:bodyPr wrap="square" lIns="0" tIns="0" rIns="0" bIns="0" anchor="t">
            <a:spAutoFit/>
          </a:bodyPr>
          <a:lstStyle/>
          <a:p>
            <a:pPr algn="r"/>
            <a:r>
              <a:rPr sz="1200" b="0" i="0">
                <a:solidFill>
                  <a:srgbClr val="5B6573"/>
                </a:solidFill>
                <a:latin typeface="Calibri"/>
              </a:rPr>
              <a:t>low</a:t>
            </a:r>
          </a:p>
        </p:txBody>
      </p:sp>
      <p:sp>
        <p:nvSpPr>
          <p:cNvPr id="29" name="TextBox 28"/>
          <p:cNvSpPr txBox="1"/>
          <p:nvPr/>
        </p:nvSpPr>
        <p:spPr>
          <a:xfrm>
            <a:off x="10332720" y="5029200"/>
            <a:ext cx="1097280" cy="320040"/>
          </a:xfrm>
          <a:prstGeom prst="rect">
            <a:avLst/>
          </a:prstGeom>
          <a:noFill/>
        </p:spPr>
        <p:txBody>
          <a:bodyPr wrap="square" lIns="0" tIns="0" rIns="0" bIns="0" anchor="t">
            <a:spAutoFit/>
          </a:bodyPr>
          <a:lstStyle/>
          <a:p>
            <a:pPr algn="l"/>
            <a:r>
              <a:rPr sz="1200" b="0" i="0">
                <a:solidFill>
                  <a:srgbClr val="5B6573"/>
                </a:solidFill>
                <a:latin typeface="Calibri"/>
              </a:rPr>
              <a:t>high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Grad-CAM: FAF uses retinal anatomy</a:t>
            </a:r>
          </a:p>
        </p:txBody>
      </p:sp>
      <p:pic>
        <p:nvPicPr>
          <p:cNvPr id="3" name="Picture 2" descr="0006_AF_B-0_0_orig.png"/>
          <p:cNvPicPr>
            <a:picLocks noChangeAspect="1"/>
          </p:cNvPicPr>
          <p:nvPr/>
        </p:nvPicPr>
        <p:blipFill>
          <a:blip r:embed="rId3"/>
          <a:stretch>
            <a:fillRect/>
          </a:stretch>
        </p:blipFill>
        <p:spPr>
          <a:xfrm>
            <a:off x="548640" y="1371600"/>
            <a:ext cx="2148840" cy="2148840"/>
          </a:xfrm>
          <a:prstGeom prst="rect">
            <a:avLst/>
          </a:prstGeom>
        </p:spPr>
      </p:pic>
      <p:sp>
        <p:nvSpPr>
          <p:cNvPr id="4" name="TextBox 3"/>
          <p:cNvSpPr txBox="1"/>
          <p:nvPr/>
        </p:nvSpPr>
        <p:spPr>
          <a:xfrm>
            <a:off x="548640" y="3575304"/>
            <a:ext cx="2148840" cy="274320"/>
          </a:xfrm>
          <a:prstGeom prst="rect">
            <a:avLst/>
          </a:prstGeom>
          <a:noFill/>
        </p:spPr>
        <p:txBody>
          <a:bodyPr wrap="square" lIns="0" tIns="0" rIns="0" bIns="0" anchor="t">
            <a:spAutoFit/>
          </a:bodyPr>
          <a:lstStyle/>
          <a:p>
            <a:pPr algn="ctr"/>
            <a:r>
              <a:rPr sz="1200" b="0" i="0">
                <a:solidFill>
                  <a:srgbClr val="1F2933"/>
                </a:solidFill>
                <a:latin typeface="Calibri"/>
              </a:rPr>
              <a:t>Original</a:t>
            </a:r>
          </a:p>
        </p:txBody>
      </p:sp>
      <p:pic>
        <p:nvPicPr>
          <p:cNvPr id="5" name="Picture 4" descr="0006_AF_B-0_0_overlay.png"/>
          <p:cNvPicPr>
            <a:picLocks noChangeAspect="1"/>
          </p:cNvPicPr>
          <p:nvPr/>
        </p:nvPicPr>
        <p:blipFill>
          <a:blip r:embed="rId4"/>
          <a:stretch>
            <a:fillRect/>
          </a:stretch>
        </p:blipFill>
        <p:spPr>
          <a:xfrm>
            <a:off x="548640" y="3886200"/>
            <a:ext cx="2148840" cy="2148840"/>
          </a:xfrm>
          <a:prstGeom prst="rect">
            <a:avLst/>
          </a:prstGeom>
        </p:spPr>
      </p:pic>
      <p:sp>
        <p:nvSpPr>
          <p:cNvPr id="6" name="TextBox 5"/>
          <p:cNvSpPr txBox="1"/>
          <p:nvPr/>
        </p:nvSpPr>
        <p:spPr>
          <a:xfrm>
            <a:off x="548640" y="6089903"/>
            <a:ext cx="2148840" cy="274320"/>
          </a:xfrm>
          <a:prstGeom prst="rect">
            <a:avLst/>
          </a:prstGeom>
          <a:noFill/>
        </p:spPr>
        <p:txBody>
          <a:bodyPr wrap="square" lIns="0" tIns="0" rIns="0" bIns="0" anchor="t">
            <a:spAutoFit/>
          </a:bodyPr>
          <a:lstStyle/>
          <a:p>
            <a:pPr algn="ctr"/>
            <a:r>
              <a:rPr sz="1200" b="0" i="0">
                <a:solidFill>
                  <a:srgbClr val="1F2933"/>
                </a:solidFill>
                <a:latin typeface="Calibri"/>
              </a:rPr>
              <a:t>Pred FAF · 99.8%</a:t>
            </a:r>
          </a:p>
        </p:txBody>
      </p:sp>
      <p:pic>
        <p:nvPicPr>
          <p:cNvPr id="7" name="Picture 6" descr="0003_AF_B-1_0_orig.png"/>
          <p:cNvPicPr>
            <a:picLocks noChangeAspect="1"/>
          </p:cNvPicPr>
          <p:nvPr/>
        </p:nvPicPr>
        <p:blipFill>
          <a:blip r:embed="rId5"/>
          <a:stretch>
            <a:fillRect/>
          </a:stretch>
        </p:blipFill>
        <p:spPr>
          <a:xfrm>
            <a:off x="2880360" y="1371600"/>
            <a:ext cx="2148840" cy="2148840"/>
          </a:xfrm>
          <a:prstGeom prst="rect">
            <a:avLst/>
          </a:prstGeom>
        </p:spPr>
      </p:pic>
      <p:sp>
        <p:nvSpPr>
          <p:cNvPr id="8" name="TextBox 7"/>
          <p:cNvSpPr txBox="1"/>
          <p:nvPr/>
        </p:nvSpPr>
        <p:spPr>
          <a:xfrm>
            <a:off x="2880360" y="3575304"/>
            <a:ext cx="2148840" cy="274320"/>
          </a:xfrm>
          <a:prstGeom prst="rect">
            <a:avLst/>
          </a:prstGeom>
          <a:noFill/>
        </p:spPr>
        <p:txBody>
          <a:bodyPr wrap="square" lIns="0" tIns="0" rIns="0" bIns="0" anchor="t">
            <a:spAutoFit/>
          </a:bodyPr>
          <a:lstStyle/>
          <a:p>
            <a:pPr algn="ctr"/>
            <a:r>
              <a:rPr sz="1200" b="0" i="0">
                <a:solidFill>
                  <a:srgbClr val="1F2933"/>
                </a:solidFill>
                <a:latin typeface="Calibri"/>
              </a:rPr>
              <a:t>Original</a:t>
            </a:r>
          </a:p>
        </p:txBody>
      </p:sp>
      <p:pic>
        <p:nvPicPr>
          <p:cNvPr id="9" name="Picture 8" descr="0003_AF_B-1_0_overlay.png"/>
          <p:cNvPicPr>
            <a:picLocks noChangeAspect="1"/>
          </p:cNvPicPr>
          <p:nvPr/>
        </p:nvPicPr>
        <p:blipFill>
          <a:blip r:embed="rId6"/>
          <a:stretch>
            <a:fillRect/>
          </a:stretch>
        </p:blipFill>
        <p:spPr>
          <a:xfrm>
            <a:off x="2880360" y="3886200"/>
            <a:ext cx="2148840" cy="2148840"/>
          </a:xfrm>
          <a:prstGeom prst="rect">
            <a:avLst/>
          </a:prstGeom>
        </p:spPr>
      </p:pic>
      <p:sp>
        <p:nvSpPr>
          <p:cNvPr id="10" name="TextBox 9"/>
          <p:cNvSpPr txBox="1"/>
          <p:nvPr/>
        </p:nvSpPr>
        <p:spPr>
          <a:xfrm>
            <a:off x="2880360" y="6089903"/>
            <a:ext cx="2148840" cy="274320"/>
          </a:xfrm>
          <a:prstGeom prst="rect">
            <a:avLst/>
          </a:prstGeom>
          <a:noFill/>
        </p:spPr>
        <p:txBody>
          <a:bodyPr wrap="square" lIns="0" tIns="0" rIns="0" bIns="0" anchor="t">
            <a:spAutoFit/>
          </a:bodyPr>
          <a:lstStyle/>
          <a:p>
            <a:pPr algn="ctr"/>
            <a:r>
              <a:rPr sz="1200" b="0" i="0">
                <a:solidFill>
                  <a:srgbClr val="1F2933"/>
                </a:solidFill>
                <a:latin typeface="Calibri"/>
              </a:rPr>
              <a:t>Pred FAF · 99.9%</a:t>
            </a:r>
          </a:p>
        </p:txBody>
      </p:sp>
      <p:pic>
        <p:nvPicPr>
          <p:cNvPr id="11" name="Picture 10" descr="0089_AF_B-0_0_orig.png"/>
          <p:cNvPicPr>
            <a:picLocks noChangeAspect="1"/>
          </p:cNvPicPr>
          <p:nvPr/>
        </p:nvPicPr>
        <p:blipFill>
          <a:blip r:embed="rId7"/>
          <a:stretch>
            <a:fillRect/>
          </a:stretch>
        </p:blipFill>
        <p:spPr>
          <a:xfrm>
            <a:off x="5212079" y="1371600"/>
            <a:ext cx="2148840" cy="2148840"/>
          </a:xfrm>
          <a:prstGeom prst="rect">
            <a:avLst/>
          </a:prstGeom>
        </p:spPr>
      </p:pic>
      <p:sp>
        <p:nvSpPr>
          <p:cNvPr id="12" name="TextBox 11"/>
          <p:cNvSpPr txBox="1"/>
          <p:nvPr/>
        </p:nvSpPr>
        <p:spPr>
          <a:xfrm>
            <a:off x="5212079" y="3575304"/>
            <a:ext cx="2148840" cy="274320"/>
          </a:xfrm>
          <a:prstGeom prst="rect">
            <a:avLst/>
          </a:prstGeom>
          <a:noFill/>
        </p:spPr>
        <p:txBody>
          <a:bodyPr wrap="square" lIns="0" tIns="0" rIns="0" bIns="0" anchor="t">
            <a:spAutoFit/>
          </a:bodyPr>
          <a:lstStyle/>
          <a:p>
            <a:pPr algn="ctr"/>
            <a:r>
              <a:rPr sz="1200" b="0" i="0">
                <a:solidFill>
                  <a:srgbClr val="1F2933"/>
                </a:solidFill>
                <a:latin typeface="Calibri"/>
              </a:rPr>
              <a:t>Original</a:t>
            </a:r>
          </a:p>
        </p:txBody>
      </p:sp>
      <p:pic>
        <p:nvPicPr>
          <p:cNvPr id="13" name="Picture 12" descr="0089_AF_B-0_0_overlay.png"/>
          <p:cNvPicPr>
            <a:picLocks noChangeAspect="1"/>
          </p:cNvPicPr>
          <p:nvPr/>
        </p:nvPicPr>
        <p:blipFill>
          <a:blip r:embed="rId8"/>
          <a:stretch>
            <a:fillRect/>
          </a:stretch>
        </p:blipFill>
        <p:spPr>
          <a:xfrm>
            <a:off x="5212079" y="3886200"/>
            <a:ext cx="2148840" cy="2148840"/>
          </a:xfrm>
          <a:prstGeom prst="rect">
            <a:avLst/>
          </a:prstGeom>
        </p:spPr>
      </p:pic>
      <p:sp>
        <p:nvSpPr>
          <p:cNvPr id="14" name="TextBox 13"/>
          <p:cNvSpPr txBox="1"/>
          <p:nvPr/>
        </p:nvSpPr>
        <p:spPr>
          <a:xfrm>
            <a:off x="5212079" y="6089903"/>
            <a:ext cx="2148840" cy="274320"/>
          </a:xfrm>
          <a:prstGeom prst="rect">
            <a:avLst/>
          </a:prstGeom>
          <a:noFill/>
        </p:spPr>
        <p:txBody>
          <a:bodyPr wrap="square" lIns="0" tIns="0" rIns="0" bIns="0" anchor="t">
            <a:spAutoFit/>
          </a:bodyPr>
          <a:lstStyle/>
          <a:p>
            <a:pPr algn="ctr"/>
            <a:r>
              <a:rPr sz="1200" b="0" i="0">
                <a:solidFill>
                  <a:srgbClr val="1F2933"/>
                </a:solidFill>
                <a:latin typeface="Calibri"/>
              </a:rPr>
              <a:t>Pred FAF · 99.9%</a:t>
            </a:r>
          </a:p>
        </p:txBody>
      </p:sp>
      <p:sp>
        <p:nvSpPr>
          <p:cNvPr id="15" name="Rounded Rectangle 14"/>
          <p:cNvSpPr/>
          <p:nvPr/>
        </p:nvSpPr>
        <p:spPr>
          <a:xfrm>
            <a:off x="7680960" y="1371600"/>
            <a:ext cx="3931920" cy="493776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79" y="1600200"/>
            <a:ext cx="3474720" cy="457200"/>
          </a:xfrm>
          <a:prstGeom prst="rect">
            <a:avLst/>
          </a:prstGeom>
          <a:noFill/>
        </p:spPr>
        <p:txBody>
          <a:bodyPr wrap="square" lIns="0" tIns="0" rIns="0" bIns="0" anchor="t">
            <a:spAutoFit/>
          </a:bodyPr>
          <a:lstStyle/>
          <a:p>
            <a:pPr algn="l"/>
            <a:r>
              <a:rPr sz="2000" b="1" i="0">
                <a:solidFill>
                  <a:srgbClr val="14213D"/>
                </a:solidFill>
                <a:latin typeface="Cambria"/>
              </a:rPr>
              <a:t>What we see</a:t>
            </a:r>
          </a:p>
        </p:txBody>
      </p:sp>
      <p:sp>
        <p:nvSpPr>
          <p:cNvPr id="17" name="TextBox 16"/>
          <p:cNvSpPr txBox="1"/>
          <p:nvPr/>
        </p:nvSpPr>
        <p:spPr>
          <a:xfrm>
            <a:off x="7955279" y="2194560"/>
            <a:ext cx="3474720" cy="4023360"/>
          </a:xfrm>
          <a:prstGeom prst="rect">
            <a:avLst/>
          </a:prstGeom>
          <a:noFill/>
        </p:spPr>
        <p:txBody>
          <a:bodyPr wrap="square" lIns="0" tIns="0" rIns="0" bIns="0" anchor="t">
            <a:spAutoFit/>
          </a:bodyPr>
          <a:lstStyle/>
          <a:p>
            <a:pPr algn="l">
              <a:spcAft>
                <a:spcPts val="1000"/>
              </a:spcAft>
            </a:pPr>
            <a:r>
              <a:rPr sz="1500" b="0" i="0">
                <a:solidFill>
                  <a:srgbClr val="1F2933"/>
                </a:solidFill>
                <a:latin typeface="Calibri"/>
              </a:rPr>
              <a:t>Heat on the optic disc, the macula and lesions such as atrophy and flecks</a:t>
            </a:r>
          </a:p>
          <a:p>
            <a:pPr algn="l">
              <a:spcAft>
                <a:spcPts val="1000"/>
              </a:spcAft>
            </a:pPr>
            <a:r>
              <a:rPr sz="1500" b="0" i="0">
                <a:solidFill>
                  <a:srgbClr val="1F2933"/>
                </a:solidFill>
                <a:latin typeface="Calibri"/>
              </a:rPr>
              <a:t>These are the features a grader uses to recognise FAF (dark disc, autofluorescence pattern)</a:t>
            </a:r>
          </a:p>
          <a:p>
            <a:pPr algn="l">
              <a:spcAft>
                <a:spcPts val="1000"/>
              </a:spcAft>
            </a:pPr>
            <a:r>
              <a:rPr sz="1500" b="0" i="0">
                <a:solidFill>
                  <a:srgbClr val="1F2933"/>
                </a:solidFill>
                <a:latin typeface="Calibri"/>
              </a:rPr>
              <a:t>All 22 FAF test images correct; lowest confidence 84.2% (0004_AF)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Grad-CAM: IR relies on the image border</a:t>
            </a:r>
          </a:p>
        </p:txBody>
      </p:sp>
      <p:pic>
        <p:nvPicPr>
          <p:cNvPr id="3" name="Picture 2" descr="0003_SLO_IR-0_0_orig.png"/>
          <p:cNvPicPr>
            <a:picLocks noChangeAspect="1"/>
          </p:cNvPicPr>
          <p:nvPr/>
        </p:nvPicPr>
        <p:blipFill>
          <a:blip r:embed="rId3"/>
          <a:stretch>
            <a:fillRect/>
          </a:stretch>
        </p:blipFill>
        <p:spPr>
          <a:xfrm>
            <a:off x="548640" y="1371600"/>
            <a:ext cx="2148840" cy="2148840"/>
          </a:xfrm>
          <a:prstGeom prst="rect">
            <a:avLst/>
          </a:prstGeom>
        </p:spPr>
      </p:pic>
      <p:sp>
        <p:nvSpPr>
          <p:cNvPr id="4" name="TextBox 3"/>
          <p:cNvSpPr txBox="1"/>
          <p:nvPr/>
        </p:nvSpPr>
        <p:spPr>
          <a:xfrm>
            <a:off x="548640" y="3575304"/>
            <a:ext cx="2148840" cy="274320"/>
          </a:xfrm>
          <a:prstGeom prst="rect">
            <a:avLst/>
          </a:prstGeom>
          <a:noFill/>
        </p:spPr>
        <p:txBody>
          <a:bodyPr wrap="square" lIns="0" tIns="0" rIns="0" bIns="0" anchor="t">
            <a:spAutoFit/>
          </a:bodyPr>
          <a:lstStyle/>
          <a:p>
            <a:pPr algn="ctr"/>
            <a:r>
              <a:rPr sz="1200" b="0" i="0">
                <a:solidFill>
                  <a:srgbClr val="1F2933"/>
                </a:solidFill>
                <a:latin typeface="Calibri"/>
              </a:rPr>
              <a:t>Original</a:t>
            </a:r>
          </a:p>
        </p:txBody>
      </p:sp>
      <p:pic>
        <p:nvPicPr>
          <p:cNvPr id="5" name="Picture 4" descr="0003_SLO_IR-0_0_overlay.png"/>
          <p:cNvPicPr>
            <a:picLocks noChangeAspect="1"/>
          </p:cNvPicPr>
          <p:nvPr/>
        </p:nvPicPr>
        <p:blipFill>
          <a:blip r:embed="rId4"/>
          <a:stretch>
            <a:fillRect/>
          </a:stretch>
        </p:blipFill>
        <p:spPr>
          <a:xfrm>
            <a:off x="548640" y="3886200"/>
            <a:ext cx="2148840" cy="2148840"/>
          </a:xfrm>
          <a:prstGeom prst="rect">
            <a:avLst/>
          </a:prstGeom>
        </p:spPr>
      </p:pic>
      <p:sp>
        <p:nvSpPr>
          <p:cNvPr id="6" name="TextBox 5"/>
          <p:cNvSpPr txBox="1"/>
          <p:nvPr/>
        </p:nvSpPr>
        <p:spPr>
          <a:xfrm>
            <a:off x="548640" y="6089903"/>
            <a:ext cx="2148840" cy="274320"/>
          </a:xfrm>
          <a:prstGeom prst="rect">
            <a:avLst/>
          </a:prstGeom>
          <a:noFill/>
        </p:spPr>
        <p:txBody>
          <a:bodyPr wrap="square" lIns="0" tIns="0" rIns="0" bIns="0" anchor="t">
            <a:spAutoFit/>
          </a:bodyPr>
          <a:lstStyle/>
          <a:p>
            <a:pPr algn="ctr"/>
            <a:r>
              <a:rPr sz="1200" b="0" i="0">
                <a:solidFill>
                  <a:srgbClr val="1F2933"/>
                </a:solidFill>
                <a:latin typeface="Calibri"/>
              </a:rPr>
              <a:t>Pred IR · 99.9%</a:t>
            </a:r>
          </a:p>
        </p:txBody>
      </p:sp>
      <p:pic>
        <p:nvPicPr>
          <p:cNvPr id="7" name="Picture 6" descr="0094_SLO_IR-0_0_orig.png"/>
          <p:cNvPicPr>
            <a:picLocks noChangeAspect="1"/>
          </p:cNvPicPr>
          <p:nvPr/>
        </p:nvPicPr>
        <p:blipFill>
          <a:blip r:embed="rId5"/>
          <a:stretch>
            <a:fillRect/>
          </a:stretch>
        </p:blipFill>
        <p:spPr>
          <a:xfrm>
            <a:off x="2880360" y="1371600"/>
            <a:ext cx="2148840" cy="2148840"/>
          </a:xfrm>
          <a:prstGeom prst="rect">
            <a:avLst/>
          </a:prstGeom>
        </p:spPr>
      </p:pic>
      <p:sp>
        <p:nvSpPr>
          <p:cNvPr id="8" name="TextBox 7"/>
          <p:cNvSpPr txBox="1"/>
          <p:nvPr/>
        </p:nvSpPr>
        <p:spPr>
          <a:xfrm>
            <a:off x="2880360" y="3575304"/>
            <a:ext cx="2148840" cy="274320"/>
          </a:xfrm>
          <a:prstGeom prst="rect">
            <a:avLst/>
          </a:prstGeom>
          <a:noFill/>
        </p:spPr>
        <p:txBody>
          <a:bodyPr wrap="square" lIns="0" tIns="0" rIns="0" bIns="0" anchor="t">
            <a:spAutoFit/>
          </a:bodyPr>
          <a:lstStyle/>
          <a:p>
            <a:pPr algn="ctr"/>
            <a:r>
              <a:rPr sz="1200" b="0" i="0">
                <a:solidFill>
                  <a:srgbClr val="1F2933"/>
                </a:solidFill>
                <a:latin typeface="Calibri"/>
              </a:rPr>
              <a:t>Original</a:t>
            </a:r>
          </a:p>
        </p:txBody>
      </p:sp>
      <p:pic>
        <p:nvPicPr>
          <p:cNvPr id="9" name="Picture 8" descr="0094_SLO_IR-0_0_overlay.png"/>
          <p:cNvPicPr>
            <a:picLocks noChangeAspect="1"/>
          </p:cNvPicPr>
          <p:nvPr/>
        </p:nvPicPr>
        <p:blipFill>
          <a:blip r:embed="rId6"/>
          <a:stretch>
            <a:fillRect/>
          </a:stretch>
        </p:blipFill>
        <p:spPr>
          <a:xfrm>
            <a:off x="2880360" y="3886200"/>
            <a:ext cx="2148840" cy="2148840"/>
          </a:xfrm>
          <a:prstGeom prst="rect">
            <a:avLst/>
          </a:prstGeom>
        </p:spPr>
      </p:pic>
      <p:sp>
        <p:nvSpPr>
          <p:cNvPr id="10" name="TextBox 9"/>
          <p:cNvSpPr txBox="1"/>
          <p:nvPr/>
        </p:nvSpPr>
        <p:spPr>
          <a:xfrm>
            <a:off x="2880360" y="6089903"/>
            <a:ext cx="2148840" cy="274320"/>
          </a:xfrm>
          <a:prstGeom prst="rect">
            <a:avLst/>
          </a:prstGeom>
          <a:noFill/>
        </p:spPr>
        <p:txBody>
          <a:bodyPr wrap="square" lIns="0" tIns="0" rIns="0" bIns="0" anchor="t">
            <a:spAutoFit/>
          </a:bodyPr>
          <a:lstStyle/>
          <a:p>
            <a:pPr algn="ctr"/>
            <a:r>
              <a:rPr sz="1200" b="0" i="0">
                <a:solidFill>
                  <a:srgbClr val="1F2933"/>
                </a:solidFill>
                <a:latin typeface="Calibri"/>
              </a:rPr>
              <a:t>Pred IR · 99.6%</a:t>
            </a:r>
          </a:p>
        </p:txBody>
      </p:sp>
      <p:pic>
        <p:nvPicPr>
          <p:cNvPr id="11" name="Picture 10" descr="0098_SLO_IR-0_0_orig.png"/>
          <p:cNvPicPr>
            <a:picLocks noChangeAspect="1"/>
          </p:cNvPicPr>
          <p:nvPr/>
        </p:nvPicPr>
        <p:blipFill>
          <a:blip r:embed="rId7"/>
          <a:stretch>
            <a:fillRect/>
          </a:stretch>
        </p:blipFill>
        <p:spPr>
          <a:xfrm>
            <a:off x="5212079" y="1371600"/>
            <a:ext cx="2148840" cy="2148840"/>
          </a:xfrm>
          <a:prstGeom prst="rect">
            <a:avLst/>
          </a:prstGeom>
        </p:spPr>
      </p:pic>
      <p:sp>
        <p:nvSpPr>
          <p:cNvPr id="12" name="TextBox 11"/>
          <p:cNvSpPr txBox="1"/>
          <p:nvPr/>
        </p:nvSpPr>
        <p:spPr>
          <a:xfrm>
            <a:off x="5212079" y="3575304"/>
            <a:ext cx="2148840" cy="274320"/>
          </a:xfrm>
          <a:prstGeom prst="rect">
            <a:avLst/>
          </a:prstGeom>
          <a:noFill/>
        </p:spPr>
        <p:txBody>
          <a:bodyPr wrap="square" lIns="0" tIns="0" rIns="0" bIns="0" anchor="t">
            <a:spAutoFit/>
          </a:bodyPr>
          <a:lstStyle/>
          <a:p>
            <a:pPr algn="ctr"/>
            <a:r>
              <a:rPr sz="1200" b="0" i="0">
                <a:solidFill>
                  <a:srgbClr val="1F2933"/>
                </a:solidFill>
                <a:latin typeface="Calibri"/>
              </a:rPr>
              <a:t>Original</a:t>
            </a:r>
          </a:p>
        </p:txBody>
      </p:sp>
      <p:pic>
        <p:nvPicPr>
          <p:cNvPr id="13" name="Picture 12" descr="0098_SLO_IR-0_0_overlay.png"/>
          <p:cNvPicPr>
            <a:picLocks noChangeAspect="1"/>
          </p:cNvPicPr>
          <p:nvPr/>
        </p:nvPicPr>
        <p:blipFill>
          <a:blip r:embed="rId8"/>
          <a:stretch>
            <a:fillRect/>
          </a:stretch>
        </p:blipFill>
        <p:spPr>
          <a:xfrm>
            <a:off x="5212079" y="3886200"/>
            <a:ext cx="2148840" cy="2148840"/>
          </a:xfrm>
          <a:prstGeom prst="rect">
            <a:avLst/>
          </a:prstGeom>
        </p:spPr>
      </p:pic>
      <p:sp>
        <p:nvSpPr>
          <p:cNvPr id="14" name="TextBox 13"/>
          <p:cNvSpPr txBox="1"/>
          <p:nvPr/>
        </p:nvSpPr>
        <p:spPr>
          <a:xfrm>
            <a:off x="5212079" y="6089903"/>
            <a:ext cx="2148840" cy="274320"/>
          </a:xfrm>
          <a:prstGeom prst="rect">
            <a:avLst/>
          </a:prstGeom>
          <a:noFill/>
        </p:spPr>
        <p:txBody>
          <a:bodyPr wrap="square" lIns="0" tIns="0" rIns="0" bIns="0" anchor="t">
            <a:spAutoFit/>
          </a:bodyPr>
          <a:lstStyle/>
          <a:p>
            <a:pPr algn="ctr"/>
            <a:r>
              <a:rPr sz="1200" b="0" i="0">
                <a:solidFill>
                  <a:srgbClr val="1F2933"/>
                </a:solidFill>
                <a:latin typeface="Calibri"/>
              </a:rPr>
              <a:t>Pred IR · 99.9%</a:t>
            </a:r>
          </a:p>
        </p:txBody>
      </p:sp>
      <p:sp>
        <p:nvSpPr>
          <p:cNvPr id="15" name="Rounded Rectangle 14"/>
          <p:cNvSpPr/>
          <p:nvPr/>
        </p:nvSpPr>
        <p:spPr>
          <a:xfrm>
            <a:off x="7680960" y="1371600"/>
            <a:ext cx="3931920" cy="4937760"/>
          </a:xfrm>
          <a:prstGeom prst="roundRect">
            <a:avLst>
              <a:gd name="adj" fmla="val 8000"/>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79" y="1600200"/>
            <a:ext cx="3474720" cy="457200"/>
          </a:xfrm>
          <a:prstGeom prst="rect">
            <a:avLst/>
          </a:prstGeom>
          <a:noFill/>
        </p:spPr>
        <p:txBody>
          <a:bodyPr wrap="square" lIns="0" tIns="0" rIns="0" bIns="0" anchor="t">
            <a:spAutoFit/>
          </a:bodyPr>
          <a:lstStyle/>
          <a:p>
            <a:pPr algn="l"/>
            <a:r>
              <a:rPr sz="2000" b="1" i="0">
                <a:solidFill>
                  <a:srgbClr val="B03A2E"/>
                </a:solidFill>
                <a:latin typeface="Cambria"/>
              </a:rPr>
              <a:t>Possible shortcut</a:t>
            </a:r>
          </a:p>
        </p:txBody>
      </p:sp>
      <p:sp>
        <p:nvSpPr>
          <p:cNvPr id="17" name="TextBox 16"/>
          <p:cNvSpPr txBox="1"/>
          <p:nvPr/>
        </p:nvSpPr>
        <p:spPr>
          <a:xfrm>
            <a:off x="7955279" y="2194560"/>
            <a:ext cx="3474720" cy="4023360"/>
          </a:xfrm>
          <a:prstGeom prst="rect">
            <a:avLst/>
          </a:prstGeom>
          <a:noFill/>
        </p:spPr>
        <p:txBody>
          <a:bodyPr wrap="square" lIns="0" tIns="0" rIns="0" bIns="0" anchor="t">
            <a:spAutoFit/>
          </a:bodyPr>
          <a:lstStyle/>
          <a:p>
            <a:pPr algn="l">
              <a:spcAft>
                <a:spcPts val="1000"/>
              </a:spcAft>
            </a:pPr>
            <a:r>
              <a:rPr sz="1500" b="0" i="0">
                <a:solidFill>
                  <a:srgbClr val="1F2933"/>
                </a:solidFill>
                <a:latin typeface="Calibri"/>
              </a:rPr>
              <a:t>Heat forms a ring at the edge of the field of view; the retina in the centre is cold (blue)</a:t>
            </a:r>
          </a:p>
          <a:p>
            <a:pPr algn="l">
              <a:spcAft>
                <a:spcPts val="1000"/>
              </a:spcAft>
            </a:pPr>
            <a:r>
              <a:rPr sz="1500" b="0" i="0">
                <a:solidFill>
                  <a:srgbClr val="1F2933"/>
                </a:solidFill>
                <a:latin typeface="Calibri"/>
              </a:rPr>
              <a:t>Consistent across all 13 IR test images</a:t>
            </a:r>
          </a:p>
          <a:p>
            <a:pPr algn="l">
              <a:spcAft>
                <a:spcPts val="1000"/>
              </a:spcAft>
            </a:pPr>
            <a:r>
              <a:rPr sz="1500" b="0" i="0">
                <a:solidFill>
                  <a:srgbClr val="1F2933"/>
                </a:solidFill>
                <a:latin typeface="Calibri"/>
              </a:rPr>
              <a:t>The model may be using the IR device's edge brightness or vignetting rather than retinal content</a:t>
            </a:r>
          </a:p>
          <a:p>
            <a:pPr algn="l">
              <a:spcAft>
                <a:spcPts val="1000"/>
              </a:spcAft>
            </a:pPr>
            <a:r>
              <a:rPr sz="1500" b="0" i="0">
                <a:solidFill>
                  <a:srgbClr val="1F2933"/>
                </a:solidFill>
                <a:latin typeface="Calibri"/>
              </a:rPr>
              <a:t>To test: tighten the circular mask (e.g. 0.85) or occlude the border, then re-evaluate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Grad-CAM: OTHER uses colour and framing</a:t>
            </a:r>
          </a:p>
        </p:txBody>
      </p:sp>
      <p:pic>
        <p:nvPicPr>
          <p:cNvPr id="3" name="Picture 2" descr="A05_1_orig.png"/>
          <p:cNvPicPr>
            <a:picLocks noChangeAspect="1"/>
          </p:cNvPicPr>
          <p:nvPr/>
        </p:nvPicPr>
        <p:blipFill>
          <a:blip r:embed="rId3"/>
          <a:stretch>
            <a:fillRect/>
          </a:stretch>
        </p:blipFill>
        <p:spPr>
          <a:xfrm>
            <a:off x="548640" y="1371600"/>
            <a:ext cx="2148840" cy="2148840"/>
          </a:xfrm>
          <a:prstGeom prst="rect">
            <a:avLst/>
          </a:prstGeom>
        </p:spPr>
      </p:pic>
      <p:sp>
        <p:nvSpPr>
          <p:cNvPr id="4" name="TextBox 3"/>
          <p:cNvSpPr txBox="1"/>
          <p:nvPr/>
        </p:nvSpPr>
        <p:spPr>
          <a:xfrm>
            <a:off x="548640" y="3575304"/>
            <a:ext cx="2148840" cy="274320"/>
          </a:xfrm>
          <a:prstGeom prst="rect">
            <a:avLst/>
          </a:prstGeom>
          <a:noFill/>
        </p:spPr>
        <p:txBody>
          <a:bodyPr wrap="square" lIns="0" tIns="0" rIns="0" bIns="0" anchor="t">
            <a:spAutoFit/>
          </a:bodyPr>
          <a:lstStyle/>
          <a:p>
            <a:pPr algn="ctr"/>
            <a:r>
              <a:rPr sz="1200" b="0" i="0">
                <a:solidFill>
                  <a:srgbClr val="1F2933"/>
                </a:solidFill>
                <a:latin typeface="Calibri"/>
              </a:rPr>
              <a:t>Original</a:t>
            </a:r>
          </a:p>
        </p:txBody>
      </p:sp>
      <p:pic>
        <p:nvPicPr>
          <p:cNvPr id="5" name="Picture 4" descr="A05_1_overlay.png"/>
          <p:cNvPicPr>
            <a:picLocks noChangeAspect="1"/>
          </p:cNvPicPr>
          <p:nvPr/>
        </p:nvPicPr>
        <p:blipFill>
          <a:blip r:embed="rId4"/>
          <a:stretch>
            <a:fillRect/>
          </a:stretch>
        </p:blipFill>
        <p:spPr>
          <a:xfrm>
            <a:off x="548640" y="3886200"/>
            <a:ext cx="2148840" cy="2148840"/>
          </a:xfrm>
          <a:prstGeom prst="rect">
            <a:avLst/>
          </a:prstGeom>
        </p:spPr>
      </p:pic>
      <p:sp>
        <p:nvSpPr>
          <p:cNvPr id="6" name="TextBox 5"/>
          <p:cNvSpPr txBox="1"/>
          <p:nvPr/>
        </p:nvSpPr>
        <p:spPr>
          <a:xfrm>
            <a:off x="548640" y="6089903"/>
            <a:ext cx="2148840" cy="274320"/>
          </a:xfrm>
          <a:prstGeom prst="rect">
            <a:avLst/>
          </a:prstGeom>
          <a:noFill/>
        </p:spPr>
        <p:txBody>
          <a:bodyPr wrap="square" lIns="0" tIns="0" rIns="0" bIns="0" anchor="t">
            <a:spAutoFit/>
          </a:bodyPr>
          <a:lstStyle/>
          <a:p>
            <a:pPr algn="ctr"/>
            <a:r>
              <a:rPr sz="1200" b="0" i="0">
                <a:solidFill>
                  <a:srgbClr val="1F2933"/>
                </a:solidFill>
                <a:latin typeface="Calibri"/>
              </a:rPr>
              <a:t>Pred OTHER · 99.7%</a:t>
            </a:r>
          </a:p>
        </p:txBody>
      </p:sp>
      <p:pic>
        <p:nvPicPr>
          <p:cNvPr id="7" name="Picture 6" descr="P36_1_orig.png"/>
          <p:cNvPicPr>
            <a:picLocks noChangeAspect="1"/>
          </p:cNvPicPr>
          <p:nvPr/>
        </p:nvPicPr>
        <p:blipFill>
          <a:blip r:embed="rId5"/>
          <a:stretch>
            <a:fillRect/>
          </a:stretch>
        </p:blipFill>
        <p:spPr>
          <a:xfrm>
            <a:off x="2880360" y="1371600"/>
            <a:ext cx="2148840" cy="2148840"/>
          </a:xfrm>
          <a:prstGeom prst="rect">
            <a:avLst/>
          </a:prstGeom>
        </p:spPr>
      </p:pic>
      <p:sp>
        <p:nvSpPr>
          <p:cNvPr id="8" name="TextBox 7"/>
          <p:cNvSpPr txBox="1"/>
          <p:nvPr/>
        </p:nvSpPr>
        <p:spPr>
          <a:xfrm>
            <a:off x="2880360" y="3575304"/>
            <a:ext cx="2148840" cy="274320"/>
          </a:xfrm>
          <a:prstGeom prst="rect">
            <a:avLst/>
          </a:prstGeom>
          <a:noFill/>
        </p:spPr>
        <p:txBody>
          <a:bodyPr wrap="square" lIns="0" tIns="0" rIns="0" bIns="0" anchor="t">
            <a:spAutoFit/>
          </a:bodyPr>
          <a:lstStyle/>
          <a:p>
            <a:pPr algn="ctr"/>
            <a:r>
              <a:rPr sz="1200" b="0" i="0">
                <a:solidFill>
                  <a:srgbClr val="1F2933"/>
                </a:solidFill>
                <a:latin typeface="Calibri"/>
              </a:rPr>
              <a:t>Original</a:t>
            </a:r>
          </a:p>
        </p:txBody>
      </p:sp>
      <p:pic>
        <p:nvPicPr>
          <p:cNvPr id="9" name="Picture 8" descr="P36_1_overlay.png"/>
          <p:cNvPicPr>
            <a:picLocks noChangeAspect="1"/>
          </p:cNvPicPr>
          <p:nvPr/>
        </p:nvPicPr>
        <p:blipFill>
          <a:blip r:embed="rId6"/>
          <a:stretch>
            <a:fillRect/>
          </a:stretch>
        </p:blipFill>
        <p:spPr>
          <a:xfrm>
            <a:off x="2880360" y="3886200"/>
            <a:ext cx="2148840" cy="2148840"/>
          </a:xfrm>
          <a:prstGeom prst="rect">
            <a:avLst/>
          </a:prstGeom>
        </p:spPr>
      </p:pic>
      <p:sp>
        <p:nvSpPr>
          <p:cNvPr id="10" name="TextBox 9"/>
          <p:cNvSpPr txBox="1"/>
          <p:nvPr/>
        </p:nvSpPr>
        <p:spPr>
          <a:xfrm>
            <a:off x="2880360" y="6089903"/>
            <a:ext cx="2148840" cy="274320"/>
          </a:xfrm>
          <a:prstGeom prst="rect">
            <a:avLst/>
          </a:prstGeom>
          <a:noFill/>
        </p:spPr>
        <p:txBody>
          <a:bodyPr wrap="square" lIns="0" tIns="0" rIns="0" bIns="0" anchor="t">
            <a:spAutoFit/>
          </a:bodyPr>
          <a:lstStyle/>
          <a:p>
            <a:pPr algn="ctr"/>
            <a:r>
              <a:rPr sz="1200" b="0" i="0">
                <a:solidFill>
                  <a:srgbClr val="1F2933"/>
                </a:solidFill>
                <a:latin typeface="Calibri"/>
              </a:rPr>
              <a:t>Pred OTHER · 99.8%</a:t>
            </a:r>
          </a:p>
        </p:txBody>
      </p:sp>
      <p:pic>
        <p:nvPicPr>
          <p:cNvPr id="11" name="Picture 10" descr="Raw_FA_1_Subject_3_orig.png"/>
          <p:cNvPicPr>
            <a:picLocks noChangeAspect="1"/>
          </p:cNvPicPr>
          <p:nvPr/>
        </p:nvPicPr>
        <p:blipFill>
          <a:blip r:embed="rId7"/>
          <a:stretch>
            <a:fillRect/>
          </a:stretch>
        </p:blipFill>
        <p:spPr>
          <a:xfrm>
            <a:off x="5212079" y="1371600"/>
            <a:ext cx="2148840" cy="2148840"/>
          </a:xfrm>
          <a:prstGeom prst="rect">
            <a:avLst/>
          </a:prstGeom>
        </p:spPr>
      </p:pic>
      <p:sp>
        <p:nvSpPr>
          <p:cNvPr id="12" name="TextBox 11"/>
          <p:cNvSpPr txBox="1"/>
          <p:nvPr/>
        </p:nvSpPr>
        <p:spPr>
          <a:xfrm>
            <a:off x="5212079" y="3575304"/>
            <a:ext cx="2148840" cy="274320"/>
          </a:xfrm>
          <a:prstGeom prst="rect">
            <a:avLst/>
          </a:prstGeom>
          <a:noFill/>
        </p:spPr>
        <p:txBody>
          <a:bodyPr wrap="square" lIns="0" tIns="0" rIns="0" bIns="0" anchor="t">
            <a:spAutoFit/>
          </a:bodyPr>
          <a:lstStyle/>
          <a:p>
            <a:pPr algn="ctr"/>
            <a:r>
              <a:rPr sz="1200" b="0" i="0">
                <a:solidFill>
                  <a:srgbClr val="1F2933"/>
                </a:solidFill>
                <a:latin typeface="Calibri"/>
              </a:rPr>
              <a:t>Original</a:t>
            </a:r>
          </a:p>
        </p:txBody>
      </p:sp>
      <p:pic>
        <p:nvPicPr>
          <p:cNvPr id="13" name="Picture 12" descr="Raw_FA_1_Subject_3_overlay.png"/>
          <p:cNvPicPr>
            <a:picLocks noChangeAspect="1"/>
          </p:cNvPicPr>
          <p:nvPr/>
        </p:nvPicPr>
        <p:blipFill>
          <a:blip r:embed="rId8"/>
          <a:stretch>
            <a:fillRect/>
          </a:stretch>
        </p:blipFill>
        <p:spPr>
          <a:xfrm>
            <a:off x="5212079" y="3886200"/>
            <a:ext cx="2148840" cy="2148840"/>
          </a:xfrm>
          <a:prstGeom prst="rect">
            <a:avLst/>
          </a:prstGeom>
        </p:spPr>
      </p:pic>
      <p:sp>
        <p:nvSpPr>
          <p:cNvPr id="14" name="TextBox 13"/>
          <p:cNvSpPr txBox="1"/>
          <p:nvPr/>
        </p:nvSpPr>
        <p:spPr>
          <a:xfrm>
            <a:off x="5212079" y="6089903"/>
            <a:ext cx="2148840" cy="274320"/>
          </a:xfrm>
          <a:prstGeom prst="rect">
            <a:avLst/>
          </a:prstGeom>
          <a:noFill/>
        </p:spPr>
        <p:txBody>
          <a:bodyPr wrap="square" lIns="0" tIns="0" rIns="0" bIns="0" anchor="t">
            <a:spAutoFit/>
          </a:bodyPr>
          <a:lstStyle/>
          <a:p>
            <a:pPr algn="ctr"/>
            <a:r>
              <a:rPr sz="1200" b="0" i="0">
                <a:solidFill>
                  <a:srgbClr val="1F2933"/>
                </a:solidFill>
                <a:latin typeface="Calibri"/>
              </a:rPr>
              <a:t>Pred OTHER · 99.9%</a:t>
            </a:r>
          </a:p>
        </p:txBody>
      </p:sp>
      <p:sp>
        <p:nvSpPr>
          <p:cNvPr id="15" name="Rounded Rectangle 14"/>
          <p:cNvSpPr/>
          <p:nvPr/>
        </p:nvSpPr>
        <p:spPr>
          <a:xfrm>
            <a:off x="7680960" y="1371600"/>
            <a:ext cx="3931920" cy="493776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79" y="1600200"/>
            <a:ext cx="3474720" cy="457200"/>
          </a:xfrm>
          <a:prstGeom prst="rect">
            <a:avLst/>
          </a:prstGeom>
          <a:noFill/>
        </p:spPr>
        <p:txBody>
          <a:bodyPr wrap="square" lIns="0" tIns="0" rIns="0" bIns="0" anchor="t">
            <a:spAutoFit/>
          </a:bodyPr>
          <a:lstStyle/>
          <a:p>
            <a:pPr algn="l"/>
            <a:r>
              <a:rPr sz="2000" b="1" i="0">
                <a:solidFill>
                  <a:srgbClr val="14213D"/>
                </a:solidFill>
                <a:latin typeface="Cambria"/>
              </a:rPr>
              <a:t>What we see</a:t>
            </a:r>
          </a:p>
        </p:txBody>
      </p:sp>
      <p:sp>
        <p:nvSpPr>
          <p:cNvPr id="17" name="TextBox 16"/>
          <p:cNvSpPr txBox="1"/>
          <p:nvPr/>
        </p:nvSpPr>
        <p:spPr>
          <a:xfrm>
            <a:off x="7955279" y="2194560"/>
            <a:ext cx="3474720" cy="4023360"/>
          </a:xfrm>
          <a:prstGeom prst="rect">
            <a:avLst/>
          </a:prstGeom>
          <a:noFill/>
        </p:spPr>
        <p:txBody>
          <a:bodyPr wrap="square" lIns="0" tIns="0" rIns="0" bIns="0" anchor="t">
            <a:spAutoFit/>
          </a:bodyPr>
          <a:lstStyle/>
          <a:p>
            <a:pPr algn="l">
              <a:spcAft>
                <a:spcPts val="1000"/>
              </a:spcAft>
            </a:pPr>
            <a:r>
              <a:rPr sz="1500" b="0" i="0">
                <a:solidFill>
                  <a:srgbClr val="1F2933"/>
                </a:solidFill>
                <a:latin typeface="Calibri"/>
              </a:rPr>
              <a:t>Colour fundus: heat spread over the disc and vessel arcades; colour alone separates these</a:t>
            </a:r>
          </a:p>
          <a:p>
            <a:pPr algn="l">
              <a:spcAft>
                <a:spcPts val="1000"/>
              </a:spcAft>
            </a:pPr>
            <a:r>
              <a:rPr sz="1500" b="0" i="0">
                <a:solidFill>
                  <a:srgbClr val="1F2933"/>
                </a:solidFill>
                <a:latin typeface="Calibri"/>
              </a:rPr>
              <a:t>Fluorescein angiography and montages: a rectangular central block</a:t>
            </a:r>
          </a:p>
          <a:p>
            <a:pPr algn="l">
              <a:spcAft>
                <a:spcPts val="1000"/>
              </a:spcAft>
            </a:pPr>
            <a:r>
              <a:rPr sz="1500" b="0" i="0">
                <a:solidFill>
                  <a:srgbClr val="1F2933"/>
                </a:solidFill>
                <a:latin typeface="Calibri"/>
              </a:rPr>
              <a:t>These images are not round, so the framing may be a cue</a:t>
            </a:r>
          </a:p>
          <a:p>
            <a:pPr algn="l">
              <a:spcAft>
                <a:spcPts val="1000"/>
              </a:spcAft>
            </a:pPr>
            <a:r>
              <a:rPr sz="1500" b="0" i="0">
                <a:solidFill>
                  <a:srgbClr val="1F2933"/>
                </a:solidFill>
                <a:latin typeface="Calibri"/>
              </a:rPr>
              <a:t>All 20 OTHER test images correct (≥ 99.1% confidence)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Limitations</a:t>
            </a:r>
          </a:p>
        </p:txBody>
      </p:sp>
      <p:sp>
        <p:nvSpPr>
          <p:cNvPr id="7" name="Rounded Rectangle 6"/>
          <p:cNvSpPr/>
          <p:nvPr/>
        </p:nvSpPr>
        <p:spPr>
          <a:xfrm>
            <a:off x="542500" y="1371600"/>
            <a:ext cx="11053320" cy="1474641"/>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99531" y="1531961"/>
            <a:ext cx="457200" cy="457200"/>
          </a:xfrm>
          <a:prstGeom prst="ellipse">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Calibri"/>
                <a:ea typeface="Calibri"/>
                <a:cs typeface="Calibri"/>
              </a:rPr>
              <a:t>1</a:t>
            </a:r>
            <a:endParaRPr lang="en-US" sz="1600" b="1" dirty="0">
              <a:solidFill>
                <a:srgbClr val="FFFFFF"/>
              </a:solidFill>
              <a:latin typeface="Calibri"/>
              <a:ea typeface="Calibri"/>
              <a:cs typeface="Calibri"/>
            </a:endParaRPr>
          </a:p>
        </p:txBody>
      </p:sp>
      <p:sp>
        <p:nvSpPr>
          <p:cNvPr id="9" name="TextBox 8"/>
          <p:cNvSpPr txBox="1"/>
          <p:nvPr/>
        </p:nvSpPr>
        <p:spPr>
          <a:xfrm>
            <a:off x="1644328" y="1531734"/>
            <a:ext cx="4343400" cy="411480"/>
          </a:xfrm>
          <a:prstGeom prst="rect">
            <a:avLst/>
          </a:prstGeom>
          <a:noFill/>
        </p:spPr>
        <p:txBody>
          <a:bodyPr wrap="square" lIns="0" tIns="0" rIns="0" bIns="0" anchor="t">
            <a:spAutoFit/>
          </a:bodyPr>
          <a:lstStyle/>
          <a:p>
            <a:pPr algn="l"/>
            <a:r>
              <a:rPr sz="1700" b="1" i="0">
                <a:solidFill>
                  <a:srgbClr val="B03A2E"/>
                </a:solidFill>
                <a:latin typeface="Calibri"/>
              </a:rPr>
              <a:t>No patient-level split</a:t>
            </a:r>
          </a:p>
        </p:txBody>
      </p:sp>
      <p:sp>
        <p:nvSpPr>
          <p:cNvPr id="10" name="TextBox 9"/>
          <p:cNvSpPr txBox="1"/>
          <p:nvPr/>
        </p:nvSpPr>
        <p:spPr>
          <a:xfrm>
            <a:off x="876641" y="2033198"/>
            <a:ext cx="4343400" cy="822960"/>
          </a:xfrm>
          <a:prstGeom prst="rect">
            <a:avLst/>
          </a:prstGeom>
          <a:noFill/>
        </p:spPr>
        <p:txBody>
          <a:bodyPr wrap="square" lIns="0" tIns="0" rIns="0" bIns="0" anchor="t">
            <a:spAutoFit/>
          </a:bodyPr>
          <a:lstStyle/>
          <a:p>
            <a:pPr algn="l"/>
            <a:r>
              <a:rPr sz="1400" b="0" i="0">
                <a:solidFill>
                  <a:srgbClr val="1F2933"/>
                </a:solidFill>
                <a:latin typeface="Calibri"/>
              </a:rPr>
              <a:t>Images are split at image level (no patient IDs), so the same eye may appear in both training and test.</a:t>
            </a:r>
          </a:p>
        </p:txBody>
      </p:sp>
      <p:sp>
        <p:nvSpPr>
          <p:cNvPr id="11" name="Rounded Rectangle 10"/>
          <p:cNvSpPr/>
          <p:nvPr/>
        </p:nvSpPr>
        <p:spPr>
          <a:xfrm>
            <a:off x="548640" y="3063240"/>
            <a:ext cx="5440680" cy="150876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77240" y="329184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Calibri"/>
                <a:ea typeface="Calibri"/>
                <a:cs typeface="Calibri"/>
              </a:rPr>
              <a:t>2</a:t>
            </a:r>
            <a:endParaRPr lang="en-US" sz="1600" b="1" dirty="0">
              <a:solidFill>
                <a:srgbClr val="FFFFFF"/>
              </a:solidFill>
              <a:latin typeface="Calibri"/>
              <a:ea typeface="Calibri"/>
              <a:cs typeface="Calibri"/>
            </a:endParaRPr>
          </a:p>
        </p:txBody>
      </p:sp>
      <p:sp>
        <p:nvSpPr>
          <p:cNvPr id="13" name="TextBox 12"/>
          <p:cNvSpPr txBox="1"/>
          <p:nvPr/>
        </p:nvSpPr>
        <p:spPr>
          <a:xfrm>
            <a:off x="1417319" y="3246120"/>
            <a:ext cx="4343400" cy="411480"/>
          </a:xfrm>
          <a:prstGeom prst="rect">
            <a:avLst/>
          </a:prstGeom>
          <a:noFill/>
        </p:spPr>
        <p:txBody>
          <a:bodyPr wrap="square" lIns="0" tIns="0" rIns="0" bIns="0" anchor="t">
            <a:spAutoFit/>
          </a:bodyPr>
          <a:lstStyle/>
          <a:p>
            <a:pPr algn="l"/>
            <a:r>
              <a:rPr sz="1700" b="1" i="0">
                <a:solidFill>
                  <a:srgbClr val="14213D"/>
                </a:solidFill>
                <a:latin typeface="Calibri"/>
              </a:rPr>
              <a:t>Small test set</a:t>
            </a:r>
          </a:p>
        </p:txBody>
      </p:sp>
      <p:sp>
        <p:nvSpPr>
          <p:cNvPr id="14" name="TextBox 13"/>
          <p:cNvSpPr txBox="1"/>
          <p:nvPr/>
        </p:nvSpPr>
        <p:spPr>
          <a:xfrm>
            <a:off x="1417319" y="3685032"/>
            <a:ext cx="4343400" cy="822960"/>
          </a:xfrm>
          <a:prstGeom prst="rect">
            <a:avLst/>
          </a:prstGeom>
          <a:noFill/>
        </p:spPr>
        <p:txBody>
          <a:bodyPr wrap="square" lIns="0" tIns="0" rIns="0" bIns="0" anchor="t">
            <a:spAutoFit/>
          </a:bodyPr>
          <a:lstStyle/>
          <a:p>
            <a:pPr algn="l"/>
            <a:r>
              <a:rPr sz="1400" b="0" i="0">
                <a:solidFill>
                  <a:srgbClr val="1F2933"/>
                </a:solidFill>
                <a:latin typeface="Calibri"/>
              </a:rPr>
              <a:t>55 images: the 95% CI for accuracy is 93.5–100%; IR has only 13 test images.</a:t>
            </a:r>
          </a:p>
        </p:txBody>
      </p:sp>
      <p:sp>
        <p:nvSpPr>
          <p:cNvPr id="15" name="Rounded Rectangle 14"/>
          <p:cNvSpPr/>
          <p:nvPr/>
        </p:nvSpPr>
        <p:spPr>
          <a:xfrm>
            <a:off x="6172200" y="3063240"/>
            <a:ext cx="5440680" cy="150876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00800" y="329184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Calibri"/>
              </a:rPr>
              <a:t>3</a:t>
            </a:r>
            <a:endParaRPr lang="en-US" sz="1600" b="1">
              <a:solidFill>
                <a:srgbClr val="FFFFFF"/>
              </a:solidFill>
              <a:latin typeface="Calibri"/>
              <a:ea typeface="Calibri"/>
              <a:cs typeface="Calibri"/>
            </a:endParaRPr>
          </a:p>
        </p:txBody>
      </p:sp>
      <p:sp>
        <p:nvSpPr>
          <p:cNvPr id="17" name="TextBox 16"/>
          <p:cNvSpPr txBox="1"/>
          <p:nvPr/>
        </p:nvSpPr>
        <p:spPr>
          <a:xfrm>
            <a:off x="7040880" y="3246120"/>
            <a:ext cx="4343400" cy="411480"/>
          </a:xfrm>
          <a:prstGeom prst="rect">
            <a:avLst/>
          </a:prstGeom>
          <a:noFill/>
        </p:spPr>
        <p:txBody>
          <a:bodyPr wrap="square" lIns="0" tIns="0" rIns="0" bIns="0" anchor="t">
            <a:spAutoFit/>
          </a:bodyPr>
          <a:lstStyle/>
          <a:p>
            <a:pPr algn="l"/>
            <a:r>
              <a:rPr sz="1700" b="1" i="0">
                <a:solidFill>
                  <a:srgbClr val="14213D"/>
                </a:solidFill>
                <a:latin typeface="Calibri"/>
              </a:rPr>
              <a:t>Possible shortcuts</a:t>
            </a:r>
          </a:p>
        </p:txBody>
      </p:sp>
      <p:sp>
        <p:nvSpPr>
          <p:cNvPr id="18" name="TextBox 17"/>
          <p:cNvSpPr txBox="1"/>
          <p:nvPr/>
        </p:nvSpPr>
        <p:spPr>
          <a:xfrm>
            <a:off x="7040880" y="3685032"/>
            <a:ext cx="4343400" cy="822960"/>
          </a:xfrm>
          <a:prstGeom prst="rect">
            <a:avLst/>
          </a:prstGeom>
          <a:noFill/>
        </p:spPr>
        <p:txBody>
          <a:bodyPr wrap="square" lIns="0" tIns="0" rIns="0" bIns="0" anchor="t">
            <a:spAutoFit/>
          </a:bodyPr>
          <a:lstStyle/>
          <a:p>
            <a:pPr algn="l"/>
            <a:r>
              <a:rPr sz="1400" b="0" i="0">
                <a:solidFill>
                  <a:srgbClr val="1F2933"/>
                </a:solidFill>
                <a:latin typeface="Calibri"/>
              </a:rPr>
              <a:t>IR evidence sits on the image border; OTHER may use colour and image framing.</a:t>
            </a:r>
          </a:p>
        </p:txBody>
      </p:sp>
      <p:sp>
        <p:nvSpPr>
          <p:cNvPr id="19" name="Rounded Rectangle 18"/>
          <p:cNvSpPr/>
          <p:nvPr/>
        </p:nvSpPr>
        <p:spPr>
          <a:xfrm>
            <a:off x="548640" y="4754880"/>
            <a:ext cx="11064240" cy="150876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77240" y="498348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FFFFFF"/>
                </a:solidFill>
                <a:latin typeface="Calibri"/>
              </a:rPr>
              <a:t>4</a:t>
            </a:r>
            <a:endParaRPr lang="en-US" sz="1600" b="1">
              <a:solidFill>
                <a:srgbClr val="FFFFFF"/>
              </a:solidFill>
              <a:latin typeface="Calibri"/>
              <a:ea typeface="Calibri"/>
              <a:cs typeface="Calibri"/>
            </a:endParaRPr>
          </a:p>
        </p:txBody>
      </p:sp>
      <p:sp>
        <p:nvSpPr>
          <p:cNvPr id="21" name="TextBox 20"/>
          <p:cNvSpPr txBox="1"/>
          <p:nvPr/>
        </p:nvSpPr>
        <p:spPr>
          <a:xfrm>
            <a:off x="1417319" y="4937760"/>
            <a:ext cx="9966960" cy="411480"/>
          </a:xfrm>
          <a:prstGeom prst="rect">
            <a:avLst/>
          </a:prstGeom>
          <a:noFill/>
        </p:spPr>
        <p:txBody>
          <a:bodyPr wrap="square" lIns="0" tIns="0" rIns="0" bIns="0" anchor="t">
            <a:spAutoFit/>
          </a:bodyPr>
          <a:lstStyle/>
          <a:p>
            <a:pPr algn="l"/>
            <a:r>
              <a:rPr sz="1700" b="1" i="0">
                <a:solidFill>
                  <a:srgbClr val="14213D"/>
                </a:solidFill>
                <a:latin typeface="Calibri"/>
              </a:rPr>
              <a:t>Scratch baseline not yet run</a:t>
            </a:r>
          </a:p>
        </p:txBody>
      </p:sp>
      <p:sp>
        <p:nvSpPr>
          <p:cNvPr id="22" name="TextBox 21"/>
          <p:cNvSpPr txBox="1"/>
          <p:nvPr/>
        </p:nvSpPr>
        <p:spPr>
          <a:xfrm>
            <a:off x="1417319" y="5376672"/>
            <a:ext cx="9966960" cy="822960"/>
          </a:xfrm>
          <a:prstGeom prst="rect">
            <a:avLst/>
          </a:prstGeom>
          <a:noFill/>
        </p:spPr>
        <p:txBody>
          <a:bodyPr wrap="square" lIns="0" tIns="0" rIns="0" bIns="0" anchor="t">
            <a:spAutoFit/>
          </a:bodyPr>
          <a:lstStyle/>
          <a:p>
            <a:pPr algn="l"/>
            <a:r>
              <a:rPr sz="1400" b="0" i="0">
                <a:solidFill>
                  <a:srgbClr val="1F2933"/>
                </a:solidFill>
                <a:latin typeface="Calibri"/>
              </a:rPr>
              <a:t>Only ImageNet-pretrained models were trained (PRETRAINED_MODES = [True]).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FFFFFF"/>
                </a:solidFill>
                <a:latin typeface="Cambria"/>
              </a:rPr>
              <a:t>Conclusion and next steps</a:t>
            </a:r>
          </a:p>
        </p:txBody>
      </p:sp>
      <p:sp>
        <p:nvSpPr>
          <p:cNvPr id="3" name="TextBox 2"/>
          <p:cNvSpPr txBox="1"/>
          <p:nvPr/>
        </p:nvSpPr>
        <p:spPr>
          <a:xfrm>
            <a:off x="548640" y="1371600"/>
            <a:ext cx="4846320" cy="4389120"/>
          </a:xfrm>
          <a:prstGeom prst="rect">
            <a:avLst/>
          </a:prstGeom>
          <a:noFill/>
        </p:spPr>
        <p:txBody>
          <a:bodyPr wrap="square" lIns="0" tIns="0" rIns="0" bIns="0" anchor="t">
            <a:spAutoFit/>
          </a:bodyPr>
          <a:lstStyle/>
          <a:p>
            <a:pPr algn="l">
              <a:spcAft>
                <a:spcPts val="1600"/>
              </a:spcAft>
            </a:pPr>
            <a:r>
              <a:rPr sz="1800" b="1" i="0">
                <a:solidFill>
                  <a:srgbClr val="FFFFFF"/>
                </a:solidFill>
                <a:latin typeface="Calibri"/>
              </a:rPr>
              <a:t>Pretrained CNNs separate FAF, IR and other modalities almost perfectly: </a:t>
            </a:r>
            <a:r>
              <a:rPr sz="1800" b="0" i="0">
                <a:solidFill>
                  <a:srgbClr val="C9D3E3"/>
                </a:solidFill>
                <a:latin typeface="Calibri"/>
              </a:rPr>
              <a:t>99.2% CV macro-F1 and 55 / 55 on the test set.</a:t>
            </a:r>
          </a:p>
          <a:p>
            <a:pPr algn="l">
              <a:spcAft>
                <a:spcPts val="1600"/>
              </a:spcAft>
            </a:pPr>
            <a:r>
              <a:rPr sz="1800" b="0" i="0">
                <a:solidFill>
                  <a:srgbClr val="C9D3E3"/>
                </a:solidFill>
                <a:latin typeface="Calibri"/>
              </a:rPr>
              <a:t>Grad-CAM supports the FAF decisions, but the IR decisions may depend on the image border.</a:t>
            </a:r>
          </a:p>
        </p:txBody>
      </p:sp>
      <p:sp>
        <p:nvSpPr>
          <p:cNvPr id="6" name="Oval 5"/>
          <p:cNvSpPr/>
          <p:nvPr/>
        </p:nvSpPr>
        <p:spPr>
          <a:xfrm>
            <a:off x="5943600" y="2286000"/>
            <a:ext cx="502920" cy="50292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14213D"/>
                </a:solidFill>
                <a:latin typeface="Calibri"/>
                <a:ea typeface="Calibri"/>
                <a:cs typeface="Calibri"/>
              </a:rPr>
              <a:t>1</a:t>
            </a:r>
            <a:endParaRPr lang="en-US" sz="1600" b="1" dirty="0">
              <a:solidFill>
                <a:srgbClr val="14213D"/>
              </a:solidFill>
              <a:latin typeface="Calibri"/>
              <a:ea typeface="Calibri"/>
              <a:cs typeface="Calibri"/>
            </a:endParaRPr>
          </a:p>
        </p:txBody>
      </p:sp>
      <p:sp>
        <p:nvSpPr>
          <p:cNvPr id="7" name="TextBox 6"/>
          <p:cNvSpPr txBox="1"/>
          <p:nvPr/>
        </p:nvSpPr>
        <p:spPr>
          <a:xfrm>
            <a:off x="6629400" y="2240280"/>
            <a:ext cx="5029200" cy="594360"/>
          </a:xfrm>
          <a:prstGeom prst="rect">
            <a:avLst/>
          </a:prstGeom>
          <a:noFill/>
        </p:spPr>
        <p:txBody>
          <a:bodyPr wrap="square" lIns="0" tIns="0" rIns="0" bIns="0" anchor="ctr">
            <a:spAutoFit/>
          </a:bodyPr>
          <a:lstStyle/>
          <a:p>
            <a:pPr algn="l"/>
            <a:r>
              <a:rPr sz="1700" b="0" i="0">
                <a:solidFill>
                  <a:srgbClr val="FFFFFF"/>
                </a:solidFill>
                <a:latin typeface="Calibri"/>
              </a:rPr>
              <a:t>Re-run 5-fold CV and the held-out test</a:t>
            </a:r>
          </a:p>
        </p:txBody>
      </p:sp>
      <p:sp>
        <p:nvSpPr>
          <p:cNvPr id="8" name="Oval 7"/>
          <p:cNvSpPr/>
          <p:nvPr/>
        </p:nvSpPr>
        <p:spPr>
          <a:xfrm>
            <a:off x="5943600" y="3200400"/>
            <a:ext cx="502920" cy="502920"/>
          </a:xfrm>
          <a:prstGeom prst="ellipse">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a:solidFill>
                  <a:srgbClr val="14213D"/>
                </a:solidFill>
                <a:latin typeface="Calibri"/>
              </a:rPr>
              <a:t>2</a:t>
            </a:r>
            <a:endParaRPr lang="en-US" sz="1600" b="1">
              <a:solidFill>
                <a:srgbClr val="14213D"/>
              </a:solidFill>
              <a:latin typeface="Calibri"/>
              <a:ea typeface="Calibri"/>
              <a:cs typeface="Calibri"/>
            </a:endParaRPr>
          </a:p>
        </p:txBody>
      </p:sp>
      <p:sp>
        <p:nvSpPr>
          <p:cNvPr id="9" name="TextBox 8"/>
          <p:cNvSpPr txBox="1"/>
          <p:nvPr/>
        </p:nvSpPr>
        <p:spPr>
          <a:xfrm>
            <a:off x="6629400" y="3154680"/>
            <a:ext cx="5029200" cy="594360"/>
          </a:xfrm>
          <a:prstGeom prst="rect">
            <a:avLst/>
          </a:prstGeom>
          <a:noFill/>
        </p:spPr>
        <p:txBody>
          <a:bodyPr wrap="square" lIns="0" tIns="0" rIns="0" bIns="0" anchor="ctr">
            <a:spAutoFit/>
          </a:bodyPr>
          <a:lstStyle/>
          <a:p>
            <a:pPr algn="l"/>
            <a:r>
              <a:rPr sz="1700" b="0" i="0">
                <a:solidFill>
                  <a:srgbClr val="FFFFFF"/>
                </a:solidFill>
                <a:latin typeface="Calibri"/>
              </a:rPr>
              <a:t>IR border test: tighter circular mask or border occlusion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Appendix: Grad-CAM, FAF test images (1/2)</a:t>
            </a:r>
          </a:p>
        </p:txBody>
      </p:sp>
      <p:pic>
        <p:nvPicPr>
          <p:cNvPr id="3" name="Picture 2" descr="0003_AF_B-1_0_orig.png"/>
          <p:cNvPicPr>
            <a:picLocks noChangeAspect="1"/>
          </p:cNvPicPr>
          <p:nvPr/>
        </p:nvPicPr>
        <p:blipFill>
          <a:blip r:embed="rId3"/>
          <a:stretch>
            <a:fillRect/>
          </a:stretch>
        </p:blipFill>
        <p:spPr>
          <a:xfrm>
            <a:off x="548640" y="1280160"/>
            <a:ext cx="1280160" cy="1280160"/>
          </a:xfrm>
          <a:prstGeom prst="rect">
            <a:avLst/>
          </a:prstGeom>
        </p:spPr>
      </p:pic>
      <p:pic>
        <p:nvPicPr>
          <p:cNvPr id="4" name="Picture 3" descr="0003_AF_B-1_0_overlay.png"/>
          <p:cNvPicPr>
            <a:picLocks noChangeAspect="1"/>
          </p:cNvPicPr>
          <p:nvPr/>
        </p:nvPicPr>
        <p:blipFill>
          <a:blip r:embed="rId4"/>
          <a:stretch>
            <a:fillRect/>
          </a:stretch>
        </p:blipFill>
        <p:spPr>
          <a:xfrm>
            <a:off x="1874519" y="1280160"/>
            <a:ext cx="1280160" cy="1280160"/>
          </a:xfrm>
          <a:prstGeom prst="rect">
            <a:avLst/>
          </a:prstGeom>
        </p:spPr>
      </p:pic>
      <p:sp>
        <p:nvSpPr>
          <p:cNvPr id="5" name="TextBox 4"/>
          <p:cNvSpPr txBox="1"/>
          <p:nvPr/>
        </p:nvSpPr>
        <p:spPr>
          <a:xfrm>
            <a:off x="54864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0003_AF_B-1_0</a:t>
            </a:r>
            <a:r>
              <a:rPr sz="1000" b="0" i="0">
                <a:solidFill>
                  <a:srgbClr val="5B6573"/>
                </a:solidFill>
                <a:latin typeface="Calibri"/>
              </a:rPr>
              <a:t>   FAF 99.9%</a:t>
            </a:r>
          </a:p>
        </p:txBody>
      </p:sp>
      <p:pic>
        <p:nvPicPr>
          <p:cNvPr id="6" name="Picture 5" descr="0004_AF_B-0_0_orig.png"/>
          <p:cNvPicPr>
            <a:picLocks noChangeAspect="1"/>
          </p:cNvPicPr>
          <p:nvPr/>
        </p:nvPicPr>
        <p:blipFill>
          <a:blip r:embed="rId5"/>
          <a:stretch>
            <a:fillRect/>
          </a:stretch>
        </p:blipFill>
        <p:spPr>
          <a:xfrm>
            <a:off x="3383280" y="1280160"/>
            <a:ext cx="1280160" cy="1280160"/>
          </a:xfrm>
          <a:prstGeom prst="rect">
            <a:avLst/>
          </a:prstGeom>
        </p:spPr>
      </p:pic>
      <p:pic>
        <p:nvPicPr>
          <p:cNvPr id="7" name="Picture 6" descr="0004_AF_B-0_0_overlay.png"/>
          <p:cNvPicPr>
            <a:picLocks noChangeAspect="1"/>
          </p:cNvPicPr>
          <p:nvPr/>
        </p:nvPicPr>
        <p:blipFill>
          <a:blip r:embed="rId6"/>
          <a:stretch>
            <a:fillRect/>
          </a:stretch>
        </p:blipFill>
        <p:spPr>
          <a:xfrm>
            <a:off x="4709159" y="1280160"/>
            <a:ext cx="1280160" cy="1280160"/>
          </a:xfrm>
          <a:prstGeom prst="rect">
            <a:avLst/>
          </a:prstGeom>
        </p:spPr>
      </p:pic>
      <p:sp>
        <p:nvSpPr>
          <p:cNvPr id="8" name="TextBox 7"/>
          <p:cNvSpPr txBox="1"/>
          <p:nvPr/>
        </p:nvSpPr>
        <p:spPr>
          <a:xfrm>
            <a:off x="338328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0004_AF_B-0_0</a:t>
            </a:r>
            <a:r>
              <a:rPr sz="1000" b="0" i="0">
                <a:solidFill>
                  <a:srgbClr val="5B6573"/>
                </a:solidFill>
                <a:latin typeface="Calibri"/>
              </a:rPr>
              <a:t>   FAF 84.2%</a:t>
            </a:r>
          </a:p>
        </p:txBody>
      </p:sp>
      <p:pic>
        <p:nvPicPr>
          <p:cNvPr id="9" name="Picture 8" descr="0005_AF_B-0_0_orig.png"/>
          <p:cNvPicPr>
            <a:picLocks noChangeAspect="1"/>
          </p:cNvPicPr>
          <p:nvPr/>
        </p:nvPicPr>
        <p:blipFill>
          <a:blip r:embed="rId7"/>
          <a:stretch>
            <a:fillRect/>
          </a:stretch>
        </p:blipFill>
        <p:spPr>
          <a:xfrm>
            <a:off x="6217920" y="1280160"/>
            <a:ext cx="1280160" cy="1280160"/>
          </a:xfrm>
          <a:prstGeom prst="rect">
            <a:avLst/>
          </a:prstGeom>
        </p:spPr>
      </p:pic>
      <p:pic>
        <p:nvPicPr>
          <p:cNvPr id="10" name="Picture 9" descr="0005_AF_B-0_0_overlay.png"/>
          <p:cNvPicPr>
            <a:picLocks noChangeAspect="1"/>
          </p:cNvPicPr>
          <p:nvPr/>
        </p:nvPicPr>
        <p:blipFill>
          <a:blip r:embed="rId8"/>
          <a:stretch>
            <a:fillRect/>
          </a:stretch>
        </p:blipFill>
        <p:spPr>
          <a:xfrm>
            <a:off x="7543800" y="1280160"/>
            <a:ext cx="1280160" cy="1280160"/>
          </a:xfrm>
          <a:prstGeom prst="rect">
            <a:avLst/>
          </a:prstGeom>
        </p:spPr>
      </p:pic>
      <p:sp>
        <p:nvSpPr>
          <p:cNvPr id="11" name="TextBox 10"/>
          <p:cNvSpPr txBox="1"/>
          <p:nvPr/>
        </p:nvSpPr>
        <p:spPr>
          <a:xfrm>
            <a:off x="621792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0005_AF_B-0_0</a:t>
            </a:r>
            <a:r>
              <a:rPr sz="1000" b="0" i="0">
                <a:solidFill>
                  <a:srgbClr val="5B6573"/>
                </a:solidFill>
                <a:latin typeface="Calibri"/>
              </a:rPr>
              <a:t>   FAF 100.0%</a:t>
            </a:r>
          </a:p>
        </p:txBody>
      </p:sp>
      <p:pic>
        <p:nvPicPr>
          <p:cNvPr id="12" name="Picture 11" descr="0006_AF_B-0_0_orig.png"/>
          <p:cNvPicPr>
            <a:picLocks noChangeAspect="1"/>
          </p:cNvPicPr>
          <p:nvPr/>
        </p:nvPicPr>
        <p:blipFill>
          <a:blip r:embed="rId9"/>
          <a:stretch>
            <a:fillRect/>
          </a:stretch>
        </p:blipFill>
        <p:spPr>
          <a:xfrm>
            <a:off x="9052560" y="1280160"/>
            <a:ext cx="1280160" cy="1280160"/>
          </a:xfrm>
          <a:prstGeom prst="rect">
            <a:avLst/>
          </a:prstGeom>
        </p:spPr>
      </p:pic>
      <p:pic>
        <p:nvPicPr>
          <p:cNvPr id="13" name="Picture 12" descr="0006_AF_B-0_0_overlay.png"/>
          <p:cNvPicPr>
            <a:picLocks noChangeAspect="1"/>
          </p:cNvPicPr>
          <p:nvPr/>
        </p:nvPicPr>
        <p:blipFill>
          <a:blip r:embed="rId10"/>
          <a:stretch>
            <a:fillRect/>
          </a:stretch>
        </p:blipFill>
        <p:spPr>
          <a:xfrm>
            <a:off x="10378440" y="1280160"/>
            <a:ext cx="1280160" cy="1280160"/>
          </a:xfrm>
          <a:prstGeom prst="rect">
            <a:avLst/>
          </a:prstGeom>
        </p:spPr>
      </p:pic>
      <p:sp>
        <p:nvSpPr>
          <p:cNvPr id="14" name="TextBox 13"/>
          <p:cNvSpPr txBox="1"/>
          <p:nvPr/>
        </p:nvSpPr>
        <p:spPr>
          <a:xfrm>
            <a:off x="905256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0006_AF_B-0_0</a:t>
            </a:r>
            <a:r>
              <a:rPr sz="1000" b="0" i="0">
                <a:solidFill>
                  <a:srgbClr val="5B6573"/>
                </a:solidFill>
                <a:latin typeface="Calibri"/>
              </a:rPr>
              <a:t>   FAF 99.8%</a:t>
            </a:r>
          </a:p>
        </p:txBody>
      </p:sp>
      <p:pic>
        <p:nvPicPr>
          <p:cNvPr id="15" name="Picture 14" descr="0009_AF_B-0_0_orig.png"/>
          <p:cNvPicPr>
            <a:picLocks noChangeAspect="1"/>
          </p:cNvPicPr>
          <p:nvPr/>
        </p:nvPicPr>
        <p:blipFill>
          <a:blip r:embed="rId11"/>
          <a:stretch>
            <a:fillRect/>
          </a:stretch>
        </p:blipFill>
        <p:spPr>
          <a:xfrm>
            <a:off x="548640" y="3063239"/>
            <a:ext cx="1280160" cy="1280160"/>
          </a:xfrm>
          <a:prstGeom prst="rect">
            <a:avLst/>
          </a:prstGeom>
        </p:spPr>
      </p:pic>
      <p:pic>
        <p:nvPicPr>
          <p:cNvPr id="16" name="Picture 15" descr="0009_AF_B-0_0_overlay.png"/>
          <p:cNvPicPr>
            <a:picLocks noChangeAspect="1"/>
          </p:cNvPicPr>
          <p:nvPr/>
        </p:nvPicPr>
        <p:blipFill>
          <a:blip r:embed="rId12"/>
          <a:stretch>
            <a:fillRect/>
          </a:stretch>
        </p:blipFill>
        <p:spPr>
          <a:xfrm>
            <a:off x="1874519" y="3063239"/>
            <a:ext cx="1280160" cy="1280160"/>
          </a:xfrm>
          <a:prstGeom prst="rect">
            <a:avLst/>
          </a:prstGeom>
        </p:spPr>
      </p:pic>
      <p:sp>
        <p:nvSpPr>
          <p:cNvPr id="17" name="TextBox 16"/>
          <p:cNvSpPr txBox="1"/>
          <p:nvPr/>
        </p:nvSpPr>
        <p:spPr>
          <a:xfrm>
            <a:off x="54864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0009_AF_B-0_0</a:t>
            </a:r>
            <a:r>
              <a:rPr sz="1000" b="0" i="0">
                <a:solidFill>
                  <a:srgbClr val="5B6573"/>
                </a:solidFill>
                <a:latin typeface="Calibri"/>
              </a:rPr>
              <a:t>   FAF 99.7%</a:t>
            </a:r>
          </a:p>
        </p:txBody>
      </p:sp>
      <p:pic>
        <p:nvPicPr>
          <p:cNvPr id="18" name="Picture 17" descr="0010_AF_B-0_0_orig.png"/>
          <p:cNvPicPr>
            <a:picLocks noChangeAspect="1"/>
          </p:cNvPicPr>
          <p:nvPr/>
        </p:nvPicPr>
        <p:blipFill>
          <a:blip r:embed="rId13"/>
          <a:stretch>
            <a:fillRect/>
          </a:stretch>
        </p:blipFill>
        <p:spPr>
          <a:xfrm>
            <a:off x="3383280" y="3063239"/>
            <a:ext cx="1280160" cy="1280160"/>
          </a:xfrm>
          <a:prstGeom prst="rect">
            <a:avLst/>
          </a:prstGeom>
        </p:spPr>
      </p:pic>
      <p:pic>
        <p:nvPicPr>
          <p:cNvPr id="19" name="Picture 18" descr="0010_AF_B-0_0_overlay.png"/>
          <p:cNvPicPr>
            <a:picLocks noChangeAspect="1"/>
          </p:cNvPicPr>
          <p:nvPr/>
        </p:nvPicPr>
        <p:blipFill>
          <a:blip r:embed="rId14"/>
          <a:stretch>
            <a:fillRect/>
          </a:stretch>
        </p:blipFill>
        <p:spPr>
          <a:xfrm>
            <a:off x="4709159" y="3063239"/>
            <a:ext cx="1280160" cy="1280160"/>
          </a:xfrm>
          <a:prstGeom prst="rect">
            <a:avLst/>
          </a:prstGeom>
        </p:spPr>
      </p:pic>
      <p:sp>
        <p:nvSpPr>
          <p:cNvPr id="20" name="TextBox 19"/>
          <p:cNvSpPr txBox="1"/>
          <p:nvPr/>
        </p:nvSpPr>
        <p:spPr>
          <a:xfrm>
            <a:off x="338328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0010_AF_B-0_0</a:t>
            </a:r>
            <a:r>
              <a:rPr sz="1000" b="0" i="0">
                <a:solidFill>
                  <a:srgbClr val="5B6573"/>
                </a:solidFill>
                <a:latin typeface="Calibri"/>
              </a:rPr>
              <a:t>   FAF 99.3%</a:t>
            </a:r>
          </a:p>
        </p:txBody>
      </p:sp>
      <p:pic>
        <p:nvPicPr>
          <p:cNvPr id="21" name="Picture 20" descr="0011_AF_B-0_0_orig.png"/>
          <p:cNvPicPr>
            <a:picLocks noChangeAspect="1"/>
          </p:cNvPicPr>
          <p:nvPr/>
        </p:nvPicPr>
        <p:blipFill>
          <a:blip r:embed="rId15"/>
          <a:stretch>
            <a:fillRect/>
          </a:stretch>
        </p:blipFill>
        <p:spPr>
          <a:xfrm>
            <a:off x="6217920" y="3063239"/>
            <a:ext cx="1280160" cy="1280160"/>
          </a:xfrm>
          <a:prstGeom prst="rect">
            <a:avLst/>
          </a:prstGeom>
        </p:spPr>
      </p:pic>
      <p:pic>
        <p:nvPicPr>
          <p:cNvPr id="22" name="Picture 21" descr="0011_AF_B-0_0_overlay.png"/>
          <p:cNvPicPr>
            <a:picLocks noChangeAspect="1"/>
          </p:cNvPicPr>
          <p:nvPr/>
        </p:nvPicPr>
        <p:blipFill>
          <a:blip r:embed="rId16"/>
          <a:stretch>
            <a:fillRect/>
          </a:stretch>
        </p:blipFill>
        <p:spPr>
          <a:xfrm>
            <a:off x="7543800" y="3063239"/>
            <a:ext cx="1280160" cy="1280160"/>
          </a:xfrm>
          <a:prstGeom prst="rect">
            <a:avLst/>
          </a:prstGeom>
        </p:spPr>
      </p:pic>
      <p:sp>
        <p:nvSpPr>
          <p:cNvPr id="23" name="TextBox 22"/>
          <p:cNvSpPr txBox="1"/>
          <p:nvPr/>
        </p:nvSpPr>
        <p:spPr>
          <a:xfrm>
            <a:off x="621792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0011_AF_B-0_0</a:t>
            </a:r>
            <a:r>
              <a:rPr sz="1000" b="0" i="0">
                <a:solidFill>
                  <a:srgbClr val="5B6573"/>
                </a:solidFill>
                <a:latin typeface="Calibri"/>
              </a:rPr>
              <a:t>   FAF 100.0%</a:t>
            </a:r>
          </a:p>
        </p:txBody>
      </p:sp>
      <p:pic>
        <p:nvPicPr>
          <p:cNvPr id="24" name="Picture 23" descr="0012_AF_B-1_0_orig.png"/>
          <p:cNvPicPr>
            <a:picLocks noChangeAspect="1"/>
          </p:cNvPicPr>
          <p:nvPr/>
        </p:nvPicPr>
        <p:blipFill>
          <a:blip r:embed="rId17"/>
          <a:stretch>
            <a:fillRect/>
          </a:stretch>
        </p:blipFill>
        <p:spPr>
          <a:xfrm>
            <a:off x="9052560" y="3063239"/>
            <a:ext cx="1280160" cy="1280160"/>
          </a:xfrm>
          <a:prstGeom prst="rect">
            <a:avLst/>
          </a:prstGeom>
        </p:spPr>
      </p:pic>
      <p:pic>
        <p:nvPicPr>
          <p:cNvPr id="25" name="Picture 24" descr="0012_AF_B-1_0_overlay.png"/>
          <p:cNvPicPr>
            <a:picLocks noChangeAspect="1"/>
          </p:cNvPicPr>
          <p:nvPr/>
        </p:nvPicPr>
        <p:blipFill>
          <a:blip r:embed="rId18"/>
          <a:stretch>
            <a:fillRect/>
          </a:stretch>
        </p:blipFill>
        <p:spPr>
          <a:xfrm>
            <a:off x="10378440" y="3063239"/>
            <a:ext cx="1280160" cy="1280160"/>
          </a:xfrm>
          <a:prstGeom prst="rect">
            <a:avLst/>
          </a:prstGeom>
        </p:spPr>
      </p:pic>
      <p:sp>
        <p:nvSpPr>
          <p:cNvPr id="26" name="TextBox 25"/>
          <p:cNvSpPr txBox="1"/>
          <p:nvPr/>
        </p:nvSpPr>
        <p:spPr>
          <a:xfrm>
            <a:off x="905256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0012_AF_B-1_0</a:t>
            </a:r>
            <a:r>
              <a:rPr sz="1000" b="0" i="0">
                <a:solidFill>
                  <a:srgbClr val="5B6573"/>
                </a:solidFill>
                <a:latin typeface="Calibri"/>
              </a:rPr>
              <a:t>   FAF 99.8%</a:t>
            </a:r>
          </a:p>
        </p:txBody>
      </p:sp>
      <p:pic>
        <p:nvPicPr>
          <p:cNvPr id="27" name="Picture 26" descr="0013_AF_B-0_0_orig.png"/>
          <p:cNvPicPr>
            <a:picLocks noChangeAspect="1"/>
          </p:cNvPicPr>
          <p:nvPr/>
        </p:nvPicPr>
        <p:blipFill>
          <a:blip r:embed="rId19"/>
          <a:stretch>
            <a:fillRect/>
          </a:stretch>
        </p:blipFill>
        <p:spPr>
          <a:xfrm>
            <a:off x="548640" y="4846320"/>
            <a:ext cx="1280160" cy="1280160"/>
          </a:xfrm>
          <a:prstGeom prst="rect">
            <a:avLst/>
          </a:prstGeom>
        </p:spPr>
      </p:pic>
      <p:pic>
        <p:nvPicPr>
          <p:cNvPr id="28" name="Picture 27" descr="0013_AF_B-0_0_overlay.png"/>
          <p:cNvPicPr>
            <a:picLocks noChangeAspect="1"/>
          </p:cNvPicPr>
          <p:nvPr/>
        </p:nvPicPr>
        <p:blipFill>
          <a:blip r:embed="rId20"/>
          <a:stretch>
            <a:fillRect/>
          </a:stretch>
        </p:blipFill>
        <p:spPr>
          <a:xfrm>
            <a:off x="1874519" y="4846320"/>
            <a:ext cx="1280160" cy="1280160"/>
          </a:xfrm>
          <a:prstGeom prst="rect">
            <a:avLst/>
          </a:prstGeom>
        </p:spPr>
      </p:pic>
      <p:sp>
        <p:nvSpPr>
          <p:cNvPr id="29" name="TextBox 28"/>
          <p:cNvSpPr txBox="1"/>
          <p:nvPr/>
        </p:nvSpPr>
        <p:spPr>
          <a:xfrm>
            <a:off x="54864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0013_AF_B-0_0</a:t>
            </a:r>
            <a:r>
              <a:rPr sz="1000" b="0" i="0">
                <a:solidFill>
                  <a:srgbClr val="5B6573"/>
                </a:solidFill>
                <a:latin typeface="Calibri"/>
              </a:rPr>
              <a:t>   FAF 99.9%</a:t>
            </a:r>
          </a:p>
        </p:txBody>
      </p:sp>
      <p:pic>
        <p:nvPicPr>
          <p:cNvPr id="30" name="Picture 29" descr="0016_AF_B-1_0_orig.png"/>
          <p:cNvPicPr>
            <a:picLocks noChangeAspect="1"/>
          </p:cNvPicPr>
          <p:nvPr/>
        </p:nvPicPr>
        <p:blipFill>
          <a:blip r:embed="rId21"/>
          <a:stretch>
            <a:fillRect/>
          </a:stretch>
        </p:blipFill>
        <p:spPr>
          <a:xfrm>
            <a:off x="3383280" y="4846320"/>
            <a:ext cx="1280160" cy="1280160"/>
          </a:xfrm>
          <a:prstGeom prst="rect">
            <a:avLst/>
          </a:prstGeom>
        </p:spPr>
      </p:pic>
      <p:pic>
        <p:nvPicPr>
          <p:cNvPr id="31" name="Picture 30" descr="0016_AF_B-1_0_overlay.png"/>
          <p:cNvPicPr>
            <a:picLocks noChangeAspect="1"/>
          </p:cNvPicPr>
          <p:nvPr/>
        </p:nvPicPr>
        <p:blipFill>
          <a:blip r:embed="rId22"/>
          <a:stretch>
            <a:fillRect/>
          </a:stretch>
        </p:blipFill>
        <p:spPr>
          <a:xfrm>
            <a:off x="4709159" y="4846320"/>
            <a:ext cx="1280160" cy="1280160"/>
          </a:xfrm>
          <a:prstGeom prst="rect">
            <a:avLst/>
          </a:prstGeom>
        </p:spPr>
      </p:pic>
      <p:sp>
        <p:nvSpPr>
          <p:cNvPr id="32" name="TextBox 31"/>
          <p:cNvSpPr txBox="1"/>
          <p:nvPr/>
        </p:nvSpPr>
        <p:spPr>
          <a:xfrm>
            <a:off x="338328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0016_AF_B-1_0</a:t>
            </a:r>
            <a:r>
              <a:rPr sz="1000" b="0" i="0">
                <a:solidFill>
                  <a:srgbClr val="5B6573"/>
                </a:solidFill>
                <a:latin typeface="Calibri"/>
              </a:rPr>
              <a:t>   FAF 99.9%</a:t>
            </a:r>
          </a:p>
        </p:txBody>
      </p:sp>
      <p:pic>
        <p:nvPicPr>
          <p:cNvPr id="33" name="Picture 32" descr="0017_AF_B-0_0_orig.png"/>
          <p:cNvPicPr>
            <a:picLocks noChangeAspect="1"/>
          </p:cNvPicPr>
          <p:nvPr/>
        </p:nvPicPr>
        <p:blipFill>
          <a:blip r:embed="rId23"/>
          <a:stretch>
            <a:fillRect/>
          </a:stretch>
        </p:blipFill>
        <p:spPr>
          <a:xfrm>
            <a:off x="6217920" y="4846320"/>
            <a:ext cx="1280160" cy="1280160"/>
          </a:xfrm>
          <a:prstGeom prst="rect">
            <a:avLst/>
          </a:prstGeom>
        </p:spPr>
      </p:pic>
      <p:pic>
        <p:nvPicPr>
          <p:cNvPr id="34" name="Picture 33" descr="0017_AF_B-0_0_overlay.png"/>
          <p:cNvPicPr>
            <a:picLocks noChangeAspect="1"/>
          </p:cNvPicPr>
          <p:nvPr/>
        </p:nvPicPr>
        <p:blipFill>
          <a:blip r:embed="rId24"/>
          <a:stretch>
            <a:fillRect/>
          </a:stretch>
        </p:blipFill>
        <p:spPr>
          <a:xfrm>
            <a:off x="7543800" y="4846320"/>
            <a:ext cx="1280160" cy="1280160"/>
          </a:xfrm>
          <a:prstGeom prst="rect">
            <a:avLst/>
          </a:prstGeom>
        </p:spPr>
      </p:pic>
      <p:sp>
        <p:nvSpPr>
          <p:cNvPr id="35" name="TextBox 34"/>
          <p:cNvSpPr txBox="1"/>
          <p:nvPr/>
        </p:nvSpPr>
        <p:spPr>
          <a:xfrm>
            <a:off x="621792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0017_AF_B-0_0</a:t>
            </a:r>
            <a:r>
              <a:rPr sz="1000" b="0" i="0">
                <a:solidFill>
                  <a:srgbClr val="5B6573"/>
                </a:solidFill>
                <a:latin typeface="Calibri"/>
              </a:rPr>
              <a:t>   FAF 100.0%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Appendix: Grad-CAM, FAF test images (2/2)</a:t>
            </a:r>
          </a:p>
        </p:txBody>
      </p:sp>
      <p:pic>
        <p:nvPicPr>
          <p:cNvPr id="3" name="Picture 2" descr="0018_AF_B-0_0_orig.png"/>
          <p:cNvPicPr>
            <a:picLocks noChangeAspect="1"/>
          </p:cNvPicPr>
          <p:nvPr/>
        </p:nvPicPr>
        <p:blipFill>
          <a:blip r:embed="rId3"/>
          <a:stretch>
            <a:fillRect/>
          </a:stretch>
        </p:blipFill>
        <p:spPr>
          <a:xfrm>
            <a:off x="548640" y="1280160"/>
            <a:ext cx="1280160" cy="1280160"/>
          </a:xfrm>
          <a:prstGeom prst="rect">
            <a:avLst/>
          </a:prstGeom>
        </p:spPr>
      </p:pic>
      <p:pic>
        <p:nvPicPr>
          <p:cNvPr id="4" name="Picture 3" descr="0018_AF_B-0_0_overlay.png"/>
          <p:cNvPicPr>
            <a:picLocks noChangeAspect="1"/>
          </p:cNvPicPr>
          <p:nvPr/>
        </p:nvPicPr>
        <p:blipFill>
          <a:blip r:embed="rId4"/>
          <a:stretch>
            <a:fillRect/>
          </a:stretch>
        </p:blipFill>
        <p:spPr>
          <a:xfrm>
            <a:off x="1874519" y="1280160"/>
            <a:ext cx="1280160" cy="1280160"/>
          </a:xfrm>
          <a:prstGeom prst="rect">
            <a:avLst/>
          </a:prstGeom>
        </p:spPr>
      </p:pic>
      <p:sp>
        <p:nvSpPr>
          <p:cNvPr id="5" name="TextBox 4"/>
          <p:cNvSpPr txBox="1"/>
          <p:nvPr/>
        </p:nvSpPr>
        <p:spPr>
          <a:xfrm>
            <a:off x="54864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0018_AF_B-0_0</a:t>
            </a:r>
            <a:r>
              <a:rPr sz="1000" b="0" i="0">
                <a:solidFill>
                  <a:srgbClr val="5B6573"/>
                </a:solidFill>
                <a:latin typeface="Calibri"/>
              </a:rPr>
              <a:t>   FAF 99.7%</a:t>
            </a:r>
          </a:p>
        </p:txBody>
      </p:sp>
      <p:pic>
        <p:nvPicPr>
          <p:cNvPr id="6" name="Picture 5" descr="0019_AF_B-0_0_orig.png"/>
          <p:cNvPicPr>
            <a:picLocks noChangeAspect="1"/>
          </p:cNvPicPr>
          <p:nvPr/>
        </p:nvPicPr>
        <p:blipFill>
          <a:blip r:embed="rId5"/>
          <a:stretch>
            <a:fillRect/>
          </a:stretch>
        </p:blipFill>
        <p:spPr>
          <a:xfrm>
            <a:off x="3383280" y="1280160"/>
            <a:ext cx="1280160" cy="1280160"/>
          </a:xfrm>
          <a:prstGeom prst="rect">
            <a:avLst/>
          </a:prstGeom>
        </p:spPr>
      </p:pic>
      <p:pic>
        <p:nvPicPr>
          <p:cNvPr id="7" name="Picture 6" descr="0019_AF_B-0_0_overlay.png"/>
          <p:cNvPicPr>
            <a:picLocks noChangeAspect="1"/>
          </p:cNvPicPr>
          <p:nvPr/>
        </p:nvPicPr>
        <p:blipFill>
          <a:blip r:embed="rId6"/>
          <a:stretch>
            <a:fillRect/>
          </a:stretch>
        </p:blipFill>
        <p:spPr>
          <a:xfrm>
            <a:off x="4709159" y="1280160"/>
            <a:ext cx="1280160" cy="1280160"/>
          </a:xfrm>
          <a:prstGeom prst="rect">
            <a:avLst/>
          </a:prstGeom>
        </p:spPr>
      </p:pic>
      <p:sp>
        <p:nvSpPr>
          <p:cNvPr id="8" name="TextBox 7"/>
          <p:cNvSpPr txBox="1"/>
          <p:nvPr/>
        </p:nvSpPr>
        <p:spPr>
          <a:xfrm>
            <a:off x="338328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0019_AF_B-0_0</a:t>
            </a:r>
            <a:r>
              <a:rPr sz="1000" b="0" i="0">
                <a:solidFill>
                  <a:srgbClr val="5B6573"/>
                </a:solidFill>
                <a:latin typeface="Calibri"/>
              </a:rPr>
              <a:t>   FAF 94.7%</a:t>
            </a:r>
          </a:p>
        </p:txBody>
      </p:sp>
      <p:pic>
        <p:nvPicPr>
          <p:cNvPr id="9" name="Picture 8" descr="0020_AF_B-3_0_orig.png"/>
          <p:cNvPicPr>
            <a:picLocks noChangeAspect="1"/>
          </p:cNvPicPr>
          <p:nvPr/>
        </p:nvPicPr>
        <p:blipFill>
          <a:blip r:embed="rId7"/>
          <a:stretch>
            <a:fillRect/>
          </a:stretch>
        </p:blipFill>
        <p:spPr>
          <a:xfrm>
            <a:off x="6217920" y="1280160"/>
            <a:ext cx="1280160" cy="1280160"/>
          </a:xfrm>
          <a:prstGeom prst="rect">
            <a:avLst/>
          </a:prstGeom>
        </p:spPr>
      </p:pic>
      <p:pic>
        <p:nvPicPr>
          <p:cNvPr id="10" name="Picture 9" descr="0020_AF_B-3_0_overlay.png"/>
          <p:cNvPicPr>
            <a:picLocks noChangeAspect="1"/>
          </p:cNvPicPr>
          <p:nvPr/>
        </p:nvPicPr>
        <p:blipFill>
          <a:blip r:embed="rId8"/>
          <a:stretch>
            <a:fillRect/>
          </a:stretch>
        </p:blipFill>
        <p:spPr>
          <a:xfrm>
            <a:off x="7543800" y="1280160"/>
            <a:ext cx="1280160" cy="1280160"/>
          </a:xfrm>
          <a:prstGeom prst="rect">
            <a:avLst/>
          </a:prstGeom>
        </p:spPr>
      </p:pic>
      <p:sp>
        <p:nvSpPr>
          <p:cNvPr id="11" name="TextBox 10"/>
          <p:cNvSpPr txBox="1"/>
          <p:nvPr/>
        </p:nvSpPr>
        <p:spPr>
          <a:xfrm>
            <a:off x="621792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0020_AF_B-3_0</a:t>
            </a:r>
            <a:r>
              <a:rPr sz="1000" b="0" i="0">
                <a:solidFill>
                  <a:srgbClr val="5B6573"/>
                </a:solidFill>
                <a:latin typeface="Calibri"/>
              </a:rPr>
              <a:t>   FAF 99.6%</a:t>
            </a:r>
          </a:p>
        </p:txBody>
      </p:sp>
      <p:pic>
        <p:nvPicPr>
          <p:cNvPr id="12" name="Picture 11" descr="0021_AF_B-0_0_orig.png"/>
          <p:cNvPicPr>
            <a:picLocks noChangeAspect="1"/>
          </p:cNvPicPr>
          <p:nvPr/>
        </p:nvPicPr>
        <p:blipFill>
          <a:blip r:embed="rId9"/>
          <a:stretch>
            <a:fillRect/>
          </a:stretch>
        </p:blipFill>
        <p:spPr>
          <a:xfrm>
            <a:off x="9052560" y="1280160"/>
            <a:ext cx="1280160" cy="1280160"/>
          </a:xfrm>
          <a:prstGeom prst="rect">
            <a:avLst/>
          </a:prstGeom>
        </p:spPr>
      </p:pic>
      <p:pic>
        <p:nvPicPr>
          <p:cNvPr id="13" name="Picture 12" descr="0021_AF_B-0_0_overlay.png"/>
          <p:cNvPicPr>
            <a:picLocks noChangeAspect="1"/>
          </p:cNvPicPr>
          <p:nvPr/>
        </p:nvPicPr>
        <p:blipFill>
          <a:blip r:embed="rId10"/>
          <a:stretch>
            <a:fillRect/>
          </a:stretch>
        </p:blipFill>
        <p:spPr>
          <a:xfrm>
            <a:off x="10378440" y="1280160"/>
            <a:ext cx="1280160" cy="1280160"/>
          </a:xfrm>
          <a:prstGeom prst="rect">
            <a:avLst/>
          </a:prstGeom>
        </p:spPr>
      </p:pic>
      <p:sp>
        <p:nvSpPr>
          <p:cNvPr id="14" name="TextBox 13"/>
          <p:cNvSpPr txBox="1"/>
          <p:nvPr/>
        </p:nvSpPr>
        <p:spPr>
          <a:xfrm>
            <a:off x="905256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0021_AF_B-0_0</a:t>
            </a:r>
            <a:r>
              <a:rPr sz="1000" b="0" i="0">
                <a:solidFill>
                  <a:srgbClr val="5B6573"/>
                </a:solidFill>
                <a:latin typeface="Calibri"/>
              </a:rPr>
              <a:t>   FAF 99.9%</a:t>
            </a:r>
          </a:p>
        </p:txBody>
      </p:sp>
      <p:pic>
        <p:nvPicPr>
          <p:cNvPr id="15" name="Picture 14" descr="0022_AF_B-1_0_orig.png"/>
          <p:cNvPicPr>
            <a:picLocks noChangeAspect="1"/>
          </p:cNvPicPr>
          <p:nvPr/>
        </p:nvPicPr>
        <p:blipFill>
          <a:blip r:embed="rId11"/>
          <a:stretch>
            <a:fillRect/>
          </a:stretch>
        </p:blipFill>
        <p:spPr>
          <a:xfrm>
            <a:off x="548640" y="3063239"/>
            <a:ext cx="1280160" cy="1280160"/>
          </a:xfrm>
          <a:prstGeom prst="rect">
            <a:avLst/>
          </a:prstGeom>
        </p:spPr>
      </p:pic>
      <p:pic>
        <p:nvPicPr>
          <p:cNvPr id="16" name="Picture 15" descr="0022_AF_B-1_0_overlay.png"/>
          <p:cNvPicPr>
            <a:picLocks noChangeAspect="1"/>
          </p:cNvPicPr>
          <p:nvPr/>
        </p:nvPicPr>
        <p:blipFill>
          <a:blip r:embed="rId12"/>
          <a:stretch>
            <a:fillRect/>
          </a:stretch>
        </p:blipFill>
        <p:spPr>
          <a:xfrm>
            <a:off x="1874519" y="3063239"/>
            <a:ext cx="1280160" cy="1280160"/>
          </a:xfrm>
          <a:prstGeom prst="rect">
            <a:avLst/>
          </a:prstGeom>
        </p:spPr>
      </p:pic>
      <p:sp>
        <p:nvSpPr>
          <p:cNvPr id="17" name="TextBox 16"/>
          <p:cNvSpPr txBox="1"/>
          <p:nvPr/>
        </p:nvSpPr>
        <p:spPr>
          <a:xfrm>
            <a:off x="54864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0022_AF_B-1_0</a:t>
            </a:r>
            <a:r>
              <a:rPr sz="1000" b="0" i="0">
                <a:solidFill>
                  <a:srgbClr val="5B6573"/>
                </a:solidFill>
                <a:latin typeface="Calibri"/>
              </a:rPr>
              <a:t>   FAF 86.9%</a:t>
            </a:r>
          </a:p>
        </p:txBody>
      </p:sp>
      <p:pic>
        <p:nvPicPr>
          <p:cNvPr id="18" name="Picture 17" descr="0023_AF_B-1_0_orig.png"/>
          <p:cNvPicPr>
            <a:picLocks noChangeAspect="1"/>
          </p:cNvPicPr>
          <p:nvPr/>
        </p:nvPicPr>
        <p:blipFill>
          <a:blip r:embed="rId13"/>
          <a:stretch>
            <a:fillRect/>
          </a:stretch>
        </p:blipFill>
        <p:spPr>
          <a:xfrm>
            <a:off x="3383280" y="3063239"/>
            <a:ext cx="1280160" cy="1280160"/>
          </a:xfrm>
          <a:prstGeom prst="rect">
            <a:avLst/>
          </a:prstGeom>
        </p:spPr>
      </p:pic>
      <p:pic>
        <p:nvPicPr>
          <p:cNvPr id="19" name="Picture 18" descr="0023_AF_B-1_0_overlay.png"/>
          <p:cNvPicPr>
            <a:picLocks noChangeAspect="1"/>
          </p:cNvPicPr>
          <p:nvPr/>
        </p:nvPicPr>
        <p:blipFill>
          <a:blip r:embed="rId14"/>
          <a:stretch>
            <a:fillRect/>
          </a:stretch>
        </p:blipFill>
        <p:spPr>
          <a:xfrm>
            <a:off x="4709159" y="3063239"/>
            <a:ext cx="1280160" cy="1280160"/>
          </a:xfrm>
          <a:prstGeom prst="rect">
            <a:avLst/>
          </a:prstGeom>
        </p:spPr>
      </p:pic>
      <p:sp>
        <p:nvSpPr>
          <p:cNvPr id="20" name="TextBox 19"/>
          <p:cNvSpPr txBox="1"/>
          <p:nvPr/>
        </p:nvSpPr>
        <p:spPr>
          <a:xfrm>
            <a:off x="338328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0023_AF_B-1_0</a:t>
            </a:r>
            <a:r>
              <a:rPr sz="1000" b="0" i="0">
                <a:solidFill>
                  <a:srgbClr val="5B6573"/>
                </a:solidFill>
                <a:latin typeface="Calibri"/>
              </a:rPr>
              <a:t>   FAF 99.7%</a:t>
            </a:r>
          </a:p>
        </p:txBody>
      </p:sp>
      <p:pic>
        <p:nvPicPr>
          <p:cNvPr id="21" name="Picture 20" descr="0037_AF_B-0_0_orig.png"/>
          <p:cNvPicPr>
            <a:picLocks noChangeAspect="1"/>
          </p:cNvPicPr>
          <p:nvPr/>
        </p:nvPicPr>
        <p:blipFill>
          <a:blip r:embed="rId15"/>
          <a:stretch>
            <a:fillRect/>
          </a:stretch>
        </p:blipFill>
        <p:spPr>
          <a:xfrm>
            <a:off x="6217920" y="3063239"/>
            <a:ext cx="1280160" cy="1280160"/>
          </a:xfrm>
          <a:prstGeom prst="rect">
            <a:avLst/>
          </a:prstGeom>
        </p:spPr>
      </p:pic>
      <p:pic>
        <p:nvPicPr>
          <p:cNvPr id="22" name="Picture 21" descr="0037_AF_B-0_0_overlay.png"/>
          <p:cNvPicPr>
            <a:picLocks noChangeAspect="1"/>
          </p:cNvPicPr>
          <p:nvPr/>
        </p:nvPicPr>
        <p:blipFill>
          <a:blip r:embed="rId16"/>
          <a:stretch>
            <a:fillRect/>
          </a:stretch>
        </p:blipFill>
        <p:spPr>
          <a:xfrm>
            <a:off x="7543800" y="3063239"/>
            <a:ext cx="1280160" cy="1280160"/>
          </a:xfrm>
          <a:prstGeom prst="rect">
            <a:avLst/>
          </a:prstGeom>
        </p:spPr>
      </p:pic>
      <p:sp>
        <p:nvSpPr>
          <p:cNvPr id="23" name="TextBox 22"/>
          <p:cNvSpPr txBox="1"/>
          <p:nvPr/>
        </p:nvSpPr>
        <p:spPr>
          <a:xfrm>
            <a:off x="621792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0037_AF_B-0_0</a:t>
            </a:r>
            <a:r>
              <a:rPr sz="1000" b="0" i="0">
                <a:solidFill>
                  <a:srgbClr val="5B6573"/>
                </a:solidFill>
                <a:latin typeface="Calibri"/>
              </a:rPr>
              <a:t>   FAF 99.9%</a:t>
            </a:r>
          </a:p>
        </p:txBody>
      </p:sp>
      <p:pic>
        <p:nvPicPr>
          <p:cNvPr id="24" name="Picture 23" descr="0056_AF_B-1_0_orig.png"/>
          <p:cNvPicPr>
            <a:picLocks noChangeAspect="1"/>
          </p:cNvPicPr>
          <p:nvPr/>
        </p:nvPicPr>
        <p:blipFill>
          <a:blip r:embed="rId17"/>
          <a:stretch>
            <a:fillRect/>
          </a:stretch>
        </p:blipFill>
        <p:spPr>
          <a:xfrm>
            <a:off x="9052560" y="3063239"/>
            <a:ext cx="1280160" cy="1280160"/>
          </a:xfrm>
          <a:prstGeom prst="rect">
            <a:avLst/>
          </a:prstGeom>
        </p:spPr>
      </p:pic>
      <p:pic>
        <p:nvPicPr>
          <p:cNvPr id="25" name="Picture 24" descr="0056_AF_B-1_0_overlay.png"/>
          <p:cNvPicPr>
            <a:picLocks noChangeAspect="1"/>
          </p:cNvPicPr>
          <p:nvPr/>
        </p:nvPicPr>
        <p:blipFill>
          <a:blip r:embed="rId18"/>
          <a:stretch>
            <a:fillRect/>
          </a:stretch>
        </p:blipFill>
        <p:spPr>
          <a:xfrm>
            <a:off x="10378440" y="3063239"/>
            <a:ext cx="1280160" cy="1280160"/>
          </a:xfrm>
          <a:prstGeom prst="rect">
            <a:avLst/>
          </a:prstGeom>
        </p:spPr>
      </p:pic>
      <p:sp>
        <p:nvSpPr>
          <p:cNvPr id="26" name="TextBox 25"/>
          <p:cNvSpPr txBox="1"/>
          <p:nvPr/>
        </p:nvSpPr>
        <p:spPr>
          <a:xfrm>
            <a:off x="905256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0056_AF_B-1_0</a:t>
            </a:r>
            <a:r>
              <a:rPr sz="1000" b="0" i="0">
                <a:solidFill>
                  <a:srgbClr val="5B6573"/>
                </a:solidFill>
                <a:latin typeface="Calibri"/>
              </a:rPr>
              <a:t>   FAF 99.4%</a:t>
            </a:r>
          </a:p>
        </p:txBody>
      </p:sp>
      <p:pic>
        <p:nvPicPr>
          <p:cNvPr id="27" name="Picture 26" descr="0062_AF_B-0_0_orig.png"/>
          <p:cNvPicPr>
            <a:picLocks noChangeAspect="1"/>
          </p:cNvPicPr>
          <p:nvPr/>
        </p:nvPicPr>
        <p:blipFill>
          <a:blip r:embed="rId19"/>
          <a:stretch>
            <a:fillRect/>
          </a:stretch>
        </p:blipFill>
        <p:spPr>
          <a:xfrm>
            <a:off x="548640" y="4846320"/>
            <a:ext cx="1280160" cy="1280160"/>
          </a:xfrm>
          <a:prstGeom prst="rect">
            <a:avLst/>
          </a:prstGeom>
        </p:spPr>
      </p:pic>
      <p:pic>
        <p:nvPicPr>
          <p:cNvPr id="28" name="Picture 27" descr="0062_AF_B-0_0_overlay.png"/>
          <p:cNvPicPr>
            <a:picLocks noChangeAspect="1"/>
          </p:cNvPicPr>
          <p:nvPr/>
        </p:nvPicPr>
        <p:blipFill>
          <a:blip r:embed="rId20"/>
          <a:stretch>
            <a:fillRect/>
          </a:stretch>
        </p:blipFill>
        <p:spPr>
          <a:xfrm>
            <a:off x="1874519" y="4846320"/>
            <a:ext cx="1280160" cy="1280160"/>
          </a:xfrm>
          <a:prstGeom prst="rect">
            <a:avLst/>
          </a:prstGeom>
        </p:spPr>
      </p:pic>
      <p:sp>
        <p:nvSpPr>
          <p:cNvPr id="29" name="TextBox 28"/>
          <p:cNvSpPr txBox="1"/>
          <p:nvPr/>
        </p:nvSpPr>
        <p:spPr>
          <a:xfrm>
            <a:off x="54864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0062_AF_B-0_0</a:t>
            </a:r>
            <a:r>
              <a:rPr sz="1000" b="0" i="0">
                <a:solidFill>
                  <a:srgbClr val="5B6573"/>
                </a:solidFill>
                <a:latin typeface="Calibri"/>
              </a:rPr>
              <a:t>   FAF 90.4%</a:t>
            </a:r>
          </a:p>
        </p:txBody>
      </p:sp>
      <p:pic>
        <p:nvPicPr>
          <p:cNvPr id="30" name="Picture 29" descr="0089_AF_B-0_0_orig.png"/>
          <p:cNvPicPr>
            <a:picLocks noChangeAspect="1"/>
          </p:cNvPicPr>
          <p:nvPr/>
        </p:nvPicPr>
        <p:blipFill>
          <a:blip r:embed="rId21"/>
          <a:stretch>
            <a:fillRect/>
          </a:stretch>
        </p:blipFill>
        <p:spPr>
          <a:xfrm>
            <a:off x="3383280" y="4846320"/>
            <a:ext cx="1280160" cy="1280160"/>
          </a:xfrm>
          <a:prstGeom prst="rect">
            <a:avLst/>
          </a:prstGeom>
        </p:spPr>
      </p:pic>
      <p:pic>
        <p:nvPicPr>
          <p:cNvPr id="31" name="Picture 30" descr="0089_AF_B-0_0_overlay.png"/>
          <p:cNvPicPr>
            <a:picLocks noChangeAspect="1"/>
          </p:cNvPicPr>
          <p:nvPr/>
        </p:nvPicPr>
        <p:blipFill>
          <a:blip r:embed="rId22"/>
          <a:stretch>
            <a:fillRect/>
          </a:stretch>
        </p:blipFill>
        <p:spPr>
          <a:xfrm>
            <a:off x="4709159" y="4846320"/>
            <a:ext cx="1280160" cy="1280160"/>
          </a:xfrm>
          <a:prstGeom prst="rect">
            <a:avLst/>
          </a:prstGeom>
        </p:spPr>
      </p:pic>
      <p:sp>
        <p:nvSpPr>
          <p:cNvPr id="32" name="TextBox 31"/>
          <p:cNvSpPr txBox="1"/>
          <p:nvPr/>
        </p:nvSpPr>
        <p:spPr>
          <a:xfrm>
            <a:off x="338328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0089_AF_B-0_0</a:t>
            </a:r>
            <a:r>
              <a:rPr sz="1000" b="0" i="0">
                <a:solidFill>
                  <a:srgbClr val="5B6573"/>
                </a:solidFill>
                <a:latin typeface="Calibri"/>
              </a:rPr>
              <a:t>   FAF 99.9%</a:t>
            </a:r>
          </a:p>
        </p:txBody>
      </p:sp>
      <p:pic>
        <p:nvPicPr>
          <p:cNvPr id="33" name="Picture 32" descr="0100_AF_B-0_0_orig.png"/>
          <p:cNvPicPr>
            <a:picLocks noChangeAspect="1"/>
          </p:cNvPicPr>
          <p:nvPr/>
        </p:nvPicPr>
        <p:blipFill>
          <a:blip r:embed="rId23"/>
          <a:stretch>
            <a:fillRect/>
          </a:stretch>
        </p:blipFill>
        <p:spPr>
          <a:xfrm>
            <a:off x="6217920" y="4846320"/>
            <a:ext cx="1280160" cy="1280160"/>
          </a:xfrm>
          <a:prstGeom prst="rect">
            <a:avLst/>
          </a:prstGeom>
        </p:spPr>
      </p:pic>
      <p:pic>
        <p:nvPicPr>
          <p:cNvPr id="34" name="Picture 33" descr="0100_AF_B-0_0_overlay.png"/>
          <p:cNvPicPr>
            <a:picLocks noChangeAspect="1"/>
          </p:cNvPicPr>
          <p:nvPr/>
        </p:nvPicPr>
        <p:blipFill>
          <a:blip r:embed="rId24"/>
          <a:stretch>
            <a:fillRect/>
          </a:stretch>
        </p:blipFill>
        <p:spPr>
          <a:xfrm>
            <a:off x="7543800" y="4846320"/>
            <a:ext cx="1280160" cy="1280160"/>
          </a:xfrm>
          <a:prstGeom prst="rect">
            <a:avLst/>
          </a:prstGeom>
        </p:spPr>
      </p:pic>
      <p:sp>
        <p:nvSpPr>
          <p:cNvPr id="35" name="TextBox 34"/>
          <p:cNvSpPr txBox="1"/>
          <p:nvPr/>
        </p:nvSpPr>
        <p:spPr>
          <a:xfrm>
            <a:off x="621792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0100_AF_B-0_0</a:t>
            </a:r>
            <a:r>
              <a:rPr sz="1000" b="0" i="0">
                <a:solidFill>
                  <a:srgbClr val="5B6573"/>
                </a:solidFill>
                <a:latin typeface="Calibri"/>
              </a:rPr>
              <a:t>   FAF 96.5%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Appendix: Grad-CAM, IR test images (1/2)</a:t>
            </a:r>
          </a:p>
        </p:txBody>
      </p:sp>
      <p:pic>
        <p:nvPicPr>
          <p:cNvPr id="3" name="Picture 2" descr="0003_SLO_IR-0_0_orig.png"/>
          <p:cNvPicPr>
            <a:picLocks noChangeAspect="1"/>
          </p:cNvPicPr>
          <p:nvPr/>
        </p:nvPicPr>
        <p:blipFill>
          <a:blip r:embed="rId3"/>
          <a:stretch>
            <a:fillRect/>
          </a:stretch>
        </p:blipFill>
        <p:spPr>
          <a:xfrm>
            <a:off x="548640" y="1280160"/>
            <a:ext cx="1280160" cy="1280160"/>
          </a:xfrm>
          <a:prstGeom prst="rect">
            <a:avLst/>
          </a:prstGeom>
        </p:spPr>
      </p:pic>
      <p:pic>
        <p:nvPicPr>
          <p:cNvPr id="4" name="Picture 3" descr="0003_SLO_IR-0_0_overlay.png"/>
          <p:cNvPicPr>
            <a:picLocks noChangeAspect="1"/>
          </p:cNvPicPr>
          <p:nvPr/>
        </p:nvPicPr>
        <p:blipFill>
          <a:blip r:embed="rId4"/>
          <a:stretch>
            <a:fillRect/>
          </a:stretch>
        </p:blipFill>
        <p:spPr>
          <a:xfrm>
            <a:off x="1874519" y="1280160"/>
            <a:ext cx="1280160" cy="1280160"/>
          </a:xfrm>
          <a:prstGeom prst="rect">
            <a:avLst/>
          </a:prstGeom>
        </p:spPr>
      </p:pic>
      <p:sp>
        <p:nvSpPr>
          <p:cNvPr id="5" name="TextBox 4"/>
          <p:cNvSpPr txBox="1"/>
          <p:nvPr/>
        </p:nvSpPr>
        <p:spPr>
          <a:xfrm>
            <a:off x="54864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0003_SLO_IR-0_0</a:t>
            </a:r>
            <a:r>
              <a:rPr sz="1000" b="0" i="0">
                <a:solidFill>
                  <a:srgbClr val="5B6573"/>
                </a:solidFill>
                <a:latin typeface="Calibri"/>
              </a:rPr>
              <a:t>   IR 99.9%</a:t>
            </a:r>
          </a:p>
        </p:txBody>
      </p:sp>
      <p:pic>
        <p:nvPicPr>
          <p:cNvPr id="6" name="Picture 5" descr="0004_SLO_IR-0_0_orig.png"/>
          <p:cNvPicPr>
            <a:picLocks noChangeAspect="1"/>
          </p:cNvPicPr>
          <p:nvPr/>
        </p:nvPicPr>
        <p:blipFill>
          <a:blip r:embed="rId5"/>
          <a:stretch>
            <a:fillRect/>
          </a:stretch>
        </p:blipFill>
        <p:spPr>
          <a:xfrm>
            <a:off x="3383280" y="1280160"/>
            <a:ext cx="1280160" cy="1280160"/>
          </a:xfrm>
          <a:prstGeom prst="rect">
            <a:avLst/>
          </a:prstGeom>
        </p:spPr>
      </p:pic>
      <p:pic>
        <p:nvPicPr>
          <p:cNvPr id="7" name="Picture 6" descr="0004_SLO_IR-0_0_overlay.png"/>
          <p:cNvPicPr>
            <a:picLocks noChangeAspect="1"/>
          </p:cNvPicPr>
          <p:nvPr/>
        </p:nvPicPr>
        <p:blipFill>
          <a:blip r:embed="rId6"/>
          <a:stretch>
            <a:fillRect/>
          </a:stretch>
        </p:blipFill>
        <p:spPr>
          <a:xfrm>
            <a:off x="4709159" y="1280160"/>
            <a:ext cx="1280160" cy="1280160"/>
          </a:xfrm>
          <a:prstGeom prst="rect">
            <a:avLst/>
          </a:prstGeom>
        </p:spPr>
      </p:pic>
      <p:sp>
        <p:nvSpPr>
          <p:cNvPr id="8" name="TextBox 7"/>
          <p:cNvSpPr txBox="1"/>
          <p:nvPr/>
        </p:nvSpPr>
        <p:spPr>
          <a:xfrm>
            <a:off x="338328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0004_SLO_IR-0_0</a:t>
            </a:r>
            <a:r>
              <a:rPr sz="1000" b="0" i="0">
                <a:solidFill>
                  <a:srgbClr val="5B6573"/>
                </a:solidFill>
                <a:latin typeface="Calibri"/>
              </a:rPr>
              <a:t>   IR 99.9%</a:t>
            </a:r>
          </a:p>
        </p:txBody>
      </p:sp>
      <p:pic>
        <p:nvPicPr>
          <p:cNvPr id="9" name="Picture 8" descr="0005_SLO_IR-0_0_orig.png"/>
          <p:cNvPicPr>
            <a:picLocks noChangeAspect="1"/>
          </p:cNvPicPr>
          <p:nvPr/>
        </p:nvPicPr>
        <p:blipFill>
          <a:blip r:embed="rId7"/>
          <a:stretch>
            <a:fillRect/>
          </a:stretch>
        </p:blipFill>
        <p:spPr>
          <a:xfrm>
            <a:off x="6217920" y="1280160"/>
            <a:ext cx="1280160" cy="1280160"/>
          </a:xfrm>
          <a:prstGeom prst="rect">
            <a:avLst/>
          </a:prstGeom>
        </p:spPr>
      </p:pic>
      <p:pic>
        <p:nvPicPr>
          <p:cNvPr id="10" name="Picture 9" descr="0005_SLO_IR-0_0_overlay.png"/>
          <p:cNvPicPr>
            <a:picLocks noChangeAspect="1"/>
          </p:cNvPicPr>
          <p:nvPr/>
        </p:nvPicPr>
        <p:blipFill>
          <a:blip r:embed="rId8"/>
          <a:stretch>
            <a:fillRect/>
          </a:stretch>
        </p:blipFill>
        <p:spPr>
          <a:xfrm>
            <a:off x="7543800" y="1280160"/>
            <a:ext cx="1280160" cy="1280160"/>
          </a:xfrm>
          <a:prstGeom prst="rect">
            <a:avLst/>
          </a:prstGeom>
        </p:spPr>
      </p:pic>
      <p:sp>
        <p:nvSpPr>
          <p:cNvPr id="11" name="TextBox 10"/>
          <p:cNvSpPr txBox="1"/>
          <p:nvPr/>
        </p:nvSpPr>
        <p:spPr>
          <a:xfrm>
            <a:off x="621792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0005_SLO_IR-0_0</a:t>
            </a:r>
            <a:r>
              <a:rPr sz="1000" b="0" i="0">
                <a:solidFill>
                  <a:srgbClr val="5B6573"/>
                </a:solidFill>
                <a:latin typeface="Calibri"/>
              </a:rPr>
              <a:t>   IR 99.5%</a:t>
            </a:r>
          </a:p>
        </p:txBody>
      </p:sp>
      <p:pic>
        <p:nvPicPr>
          <p:cNvPr id="12" name="Picture 11" descr="0006_SLO_IR-0_0_orig.png"/>
          <p:cNvPicPr>
            <a:picLocks noChangeAspect="1"/>
          </p:cNvPicPr>
          <p:nvPr/>
        </p:nvPicPr>
        <p:blipFill>
          <a:blip r:embed="rId9"/>
          <a:stretch>
            <a:fillRect/>
          </a:stretch>
        </p:blipFill>
        <p:spPr>
          <a:xfrm>
            <a:off x="9052560" y="1280160"/>
            <a:ext cx="1280160" cy="1280160"/>
          </a:xfrm>
          <a:prstGeom prst="rect">
            <a:avLst/>
          </a:prstGeom>
        </p:spPr>
      </p:pic>
      <p:pic>
        <p:nvPicPr>
          <p:cNvPr id="13" name="Picture 12" descr="0006_SLO_IR-0_0_overlay.png"/>
          <p:cNvPicPr>
            <a:picLocks noChangeAspect="1"/>
          </p:cNvPicPr>
          <p:nvPr/>
        </p:nvPicPr>
        <p:blipFill>
          <a:blip r:embed="rId10"/>
          <a:stretch>
            <a:fillRect/>
          </a:stretch>
        </p:blipFill>
        <p:spPr>
          <a:xfrm>
            <a:off x="10378440" y="1280160"/>
            <a:ext cx="1280160" cy="1280160"/>
          </a:xfrm>
          <a:prstGeom prst="rect">
            <a:avLst/>
          </a:prstGeom>
        </p:spPr>
      </p:pic>
      <p:sp>
        <p:nvSpPr>
          <p:cNvPr id="14" name="TextBox 13"/>
          <p:cNvSpPr txBox="1"/>
          <p:nvPr/>
        </p:nvSpPr>
        <p:spPr>
          <a:xfrm>
            <a:off x="905256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0006_SLO_IR-0_0</a:t>
            </a:r>
            <a:r>
              <a:rPr sz="1000" b="0" i="0">
                <a:solidFill>
                  <a:srgbClr val="5B6573"/>
                </a:solidFill>
                <a:latin typeface="Calibri"/>
              </a:rPr>
              <a:t>   IR 99.8%</a:t>
            </a:r>
          </a:p>
        </p:txBody>
      </p:sp>
      <p:pic>
        <p:nvPicPr>
          <p:cNvPr id="15" name="Picture 14" descr="0007_SLO_IR-0_0_orig.png"/>
          <p:cNvPicPr>
            <a:picLocks noChangeAspect="1"/>
          </p:cNvPicPr>
          <p:nvPr/>
        </p:nvPicPr>
        <p:blipFill>
          <a:blip r:embed="rId11"/>
          <a:stretch>
            <a:fillRect/>
          </a:stretch>
        </p:blipFill>
        <p:spPr>
          <a:xfrm>
            <a:off x="548640" y="3063239"/>
            <a:ext cx="1280160" cy="1280160"/>
          </a:xfrm>
          <a:prstGeom prst="rect">
            <a:avLst/>
          </a:prstGeom>
        </p:spPr>
      </p:pic>
      <p:pic>
        <p:nvPicPr>
          <p:cNvPr id="16" name="Picture 15" descr="0007_SLO_IR-0_0_overlay.png"/>
          <p:cNvPicPr>
            <a:picLocks noChangeAspect="1"/>
          </p:cNvPicPr>
          <p:nvPr/>
        </p:nvPicPr>
        <p:blipFill>
          <a:blip r:embed="rId12"/>
          <a:stretch>
            <a:fillRect/>
          </a:stretch>
        </p:blipFill>
        <p:spPr>
          <a:xfrm>
            <a:off x="1874519" y="3063239"/>
            <a:ext cx="1280160" cy="1280160"/>
          </a:xfrm>
          <a:prstGeom prst="rect">
            <a:avLst/>
          </a:prstGeom>
        </p:spPr>
      </p:pic>
      <p:sp>
        <p:nvSpPr>
          <p:cNvPr id="17" name="TextBox 16"/>
          <p:cNvSpPr txBox="1"/>
          <p:nvPr/>
        </p:nvSpPr>
        <p:spPr>
          <a:xfrm>
            <a:off x="54864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0007_SLO_IR-0_0</a:t>
            </a:r>
            <a:r>
              <a:rPr sz="1000" b="0" i="0">
                <a:solidFill>
                  <a:srgbClr val="5B6573"/>
                </a:solidFill>
                <a:latin typeface="Calibri"/>
              </a:rPr>
              <a:t>   IR 99.9%</a:t>
            </a:r>
          </a:p>
        </p:txBody>
      </p:sp>
      <p:pic>
        <p:nvPicPr>
          <p:cNvPr id="18" name="Picture 17" descr="0093_SLO_IR-0_0_orig.png"/>
          <p:cNvPicPr>
            <a:picLocks noChangeAspect="1"/>
          </p:cNvPicPr>
          <p:nvPr/>
        </p:nvPicPr>
        <p:blipFill>
          <a:blip r:embed="rId13"/>
          <a:stretch>
            <a:fillRect/>
          </a:stretch>
        </p:blipFill>
        <p:spPr>
          <a:xfrm>
            <a:off x="3383280" y="3063239"/>
            <a:ext cx="1280160" cy="1280160"/>
          </a:xfrm>
          <a:prstGeom prst="rect">
            <a:avLst/>
          </a:prstGeom>
        </p:spPr>
      </p:pic>
      <p:pic>
        <p:nvPicPr>
          <p:cNvPr id="19" name="Picture 18" descr="0093_SLO_IR-0_0_overlay.png"/>
          <p:cNvPicPr>
            <a:picLocks noChangeAspect="1"/>
          </p:cNvPicPr>
          <p:nvPr/>
        </p:nvPicPr>
        <p:blipFill>
          <a:blip r:embed="rId14"/>
          <a:stretch>
            <a:fillRect/>
          </a:stretch>
        </p:blipFill>
        <p:spPr>
          <a:xfrm>
            <a:off x="4709159" y="3063239"/>
            <a:ext cx="1280160" cy="1280160"/>
          </a:xfrm>
          <a:prstGeom prst="rect">
            <a:avLst/>
          </a:prstGeom>
        </p:spPr>
      </p:pic>
      <p:sp>
        <p:nvSpPr>
          <p:cNvPr id="20" name="TextBox 19"/>
          <p:cNvSpPr txBox="1"/>
          <p:nvPr/>
        </p:nvSpPr>
        <p:spPr>
          <a:xfrm>
            <a:off x="338328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0093_SLO_IR-0_0</a:t>
            </a:r>
            <a:r>
              <a:rPr sz="1000" b="0" i="0">
                <a:solidFill>
                  <a:srgbClr val="5B6573"/>
                </a:solidFill>
                <a:latin typeface="Calibri"/>
              </a:rPr>
              <a:t>   IR 99.9%</a:t>
            </a:r>
          </a:p>
        </p:txBody>
      </p:sp>
      <p:pic>
        <p:nvPicPr>
          <p:cNvPr id="21" name="Picture 20" descr="0094_SLO_IR-0_0_orig.png"/>
          <p:cNvPicPr>
            <a:picLocks noChangeAspect="1"/>
          </p:cNvPicPr>
          <p:nvPr/>
        </p:nvPicPr>
        <p:blipFill>
          <a:blip r:embed="rId15"/>
          <a:stretch>
            <a:fillRect/>
          </a:stretch>
        </p:blipFill>
        <p:spPr>
          <a:xfrm>
            <a:off x="6217920" y="3063239"/>
            <a:ext cx="1280160" cy="1280160"/>
          </a:xfrm>
          <a:prstGeom prst="rect">
            <a:avLst/>
          </a:prstGeom>
        </p:spPr>
      </p:pic>
      <p:pic>
        <p:nvPicPr>
          <p:cNvPr id="22" name="Picture 21" descr="0094_SLO_IR-0_0_overlay.png"/>
          <p:cNvPicPr>
            <a:picLocks noChangeAspect="1"/>
          </p:cNvPicPr>
          <p:nvPr/>
        </p:nvPicPr>
        <p:blipFill>
          <a:blip r:embed="rId16"/>
          <a:stretch>
            <a:fillRect/>
          </a:stretch>
        </p:blipFill>
        <p:spPr>
          <a:xfrm>
            <a:off x="7543800" y="3063239"/>
            <a:ext cx="1280160" cy="1280160"/>
          </a:xfrm>
          <a:prstGeom prst="rect">
            <a:avLst/>
          </a:prstGeom>
        </p:spPr>
      </p:pic>
      <p:sp>
        <p:nvSpPr>
          <p:cNvPr id="23" name="TextBox 22"/>
          <p:cNvSpPr txBox="1"/>
          <p:nvPr/>
        </p:nvSpPr>
        <p:spPr>
          <a:xfrm>
            <a:off x="621792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0094_SLO_IR-0_0</a:t>
            </a:r>
            <a:r>
              <a:rPr sz="1000" b="0" i="0">
                <a:solidFill>
                  <a:srgbClr val="5B6573"/>
                </a:solidFill>
                <a:latin typeface="Calibri"/>
              </a:rPr>
              <a:t>   IR 99.6%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Appendix: Grad-CAM, IR test images (2/2)</a:t>
            </a:r>
          </a:p>
        </p:txBody>
      </p:sp>
      <p:pic>
        <p:nvPicPr>
          <p:cNvPr id="3" name="Picture 2" descr="0095_SLO_IR-0_0_orig.png"/>
          <p:cNvPicPr>
            <a:picLocks noChangeAspect="1"/>
          </p:cNvPicPr>
          <p:nvPr/>
        </p:nvPicPr>
        <p:blipFill>
          <a:blip r:embed="rId3"/>
          <a:stretch>
            <a:fillRect/>
          </a:stretch>
        </p:blipFill>
        <p:spPr>
          <a:xfrm>
            <a:off x="548640" y="1280160"/>
            <a:ext cx="1280160" cy="1280160"/>
          </a:xfrm>
          <a:prstGeom prst="rect">
            <a:avLst/>
          </a:prstGeom>
        </p:spPr>
      </p:pic>
      <p:pic>
        <p:nvPicPr>
          <p:cNvPr id="4" name="Picture 3" descr="0095_SLO_IR-0_0_overlay.png"/>
          <p:cNvPicPr>
            <a:picLocks noChangeAspect="1"/>
          </p:cNvPicPr>
          <p:nvPr/>
        </p:nvPicPr>
        <p:blipFill>
          <a:blip r:embed="rId4"/>
          <a:stretch>
            <a:fillRect/>
          </a:stretch>
        </p:blipFill>
        <p:spPr>
          <a:xfrm>
            <a:off x="1874519" y="1280160"/>
            <a:ext cx="1280160" cy="1280160"/>
          </a:xfrm>
          <a:prstGeom prst="rect">
            <a:avLst/>
          </a:prstGeom>
        </p:spPr>
      </p:pic>
      <p:sp>
        <p:nvSpPr>
          <p:cNvPr id="5" name="TextBox 4"/>
          <p:cNvSpPr txBox="1"/>
          <p:nvPr/>
        </p:nvSpPr>
        <p:spPr>
          <a:xfrm>
            <a:off x="54864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0095_SLO_IR-0_0</a:t>
            </a:r>
            <a:r>
              <a:rPr sz="1000" b="0" i="0">
                <a:solidFill>
                  <a:srgbClr val="5B6573"/>
                </a:solidFill>
                <a:latin typeface="Calibri"/>
              </a:rPr>
              <a:t>   IR 99.9%</a:t>
            </a:r>
          </a:p>
        </p:txBody>
      </p:sp>
      <p:pic>
        <p:nvPicPr>
          <p:cNvPr id="6" name="Picture 5" descr="0096_SLO_IR-0_0_orig.png"/>
          <p:cNvPicPr>
            <a:picLocks noChangeAspect="1"/>
          </p:cNvPicPr>
          <p:nvPr/>
        </p:nvPicPr>
        <p:blipFill>
          <a:blip r:embed="rId5"/>
          <a:stretch>
            <a:fillRect/>
          </a:stretch>
        </p:blipFill>
        <p:spPr>
          <a:xfrm>
            <a:off x="3383280" y="1280160"/>
            <a:ext cx="1280160" cy="1280160"/>
          </a:xfrm>
          <a:prstGeom prst="rect">
            <a:avLst/>
          </a:prstGeom>
        </p:spPr>
      </p:pic>
      <p:pic>
        <p:nvPicPr>
          <p:cNvPr id="7" name="Picture 6" descr="0096_SLO_IR-0_0_overlay.png"/>
          <p:cNvPicPr>
            <a:picLocks noChangeAspect="1"/>
          </p:cNvPicPr>
          <p:nvPr/>
        </p:nvPicPr>
        <p:blipFill>
          <a:blip r:embed="rId6"/>
          <a:stretch>
            <a:fillRect/>
          </a:stretch>
        </p:blipFill>
        <p:spPr>
          <a:xfrm>
            <a:off x="4709159" y="1280160"/>
            <a:ext cx="1280160" cy="1280160"/>
          </a:xfrm>
          <a:prstGeom prst="rect">
            <a:avLst/>
          </a:prstGeom>
        </p:spPr>
      </p:pic>
      <p:sp>
        <p:nvSpPr>
          <p:cNvPr id="8" name="TextBox 7"/>
          <p:cNvSpPr txBox="1"/>
          <p:nvPr/>
        </p:nvSpPr>
        <p:spPr>
          <a:xfrm>
            <a:off x="338328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0096_SLO_IR-0_0</a:t>
            </a:r>
            <a:r>
              <a:rPr sz="1000" b="0" i="0">
                <a:solidFill>
                  <a:srgbClr val="5B6573"/>
                </a:solidFill>
                <a:latin typeface="Calibri"/>
              </a:rPr>
              <a:t>   IR 99.2%</a:t>
            </a:r>
          </a:p>
        </p:txBody>
      </p:sp>
      <p:pic>
        <p:nvPicPr>
          <p:cNvPr id="9" name="Picture 8" descr="0097_SLO_IR-0_0_orig.png"/>
          <p:cNvPicPr>
            <a:picLocks noChangeAspect="1"/>
          </p:cNvPicPr>
          <p:nvPr/>
        </p:nvPicPr>
        <p:blipFill>
          <a:blip r:embed="rId7"/>
          <a:stretch>
            <a:fillRect/>
          </a:stretch>
        </p:blipFill>
        <p:spPr>
          <a:xfrm>
            <a:off x="6217920" y="1280160"/>
            <a:ext cx="1280160" cy="1280160"/>
          </a:xfrm>
          <a:prstGeom prst="rect">
            <a:avLst/>
          </a:prstGeom>
        </p:spPr>
      </p:pic>
      <p:pic>
        <p:nvPicPr>
          <p:cNvPr id="10" name="Picture 9" descr="0097_SLO_IR-0_0_overlay.png"/>
          <p:cNvPicPr>
            <a:picLocks noChangeAspect="1"/>
          </p:cNvPicPr>
          <p:nvPr/>
        </p:nvPicPr>
        <p:blipFill>
          <a:blip r:embed="rId8"/>
          <a:stretch>
            <a:fillRect/>
          </a:stretch>
        </p:blipFill>
        <p:spPr>
          <a:xfrm>
            <a:off x="7543800" y="1280160"/>
            <a:ext cx="1280160" cy="1280160"/>
          </a:xfrm>
          <a:prstGeom prst="rect">
            <a:avLst/>
          </a:prstGeom>
        </p:spPr>
      </p:pic>
      <p:sp>
        <p:nvSpPr>
          <p:cNvPr id="11" name="TextBox 10"/>
          <p:cNvSpPr txBox="1"/>
          <p:nvPr/>
        </p:nvSpPr>
        <p:spPr>
          <a:xfrm>
            <a:off x="621792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0097_SLO_IR-0_0</a:t>
            </a:r>
            <a:r>
              <a:rPr sz="1000" b="0" i="0">
                <a:solidFill>
                  <a:srgbClr val="5B6573"/>
                </a:solidFill>
                <a:latin typeface="Calibri"/>
              </a:rPr>
              <a:t>   IR 93.6%</a:t>
            </a:r>
          </a:p>
        </p:txBody>
      </p:sp>
      <p:pic>
        <p:nvPicPr>
          <p:cNvPr id="12" name="Picture 11" descr="0098_SLO_IR-0_0_orig.png"/>
          <p:cNvPicPr>
            <a:picLocks noChangeAspect="1"/>
          </p:cNvPicPr>
          <p:nvPr/>
        </p:nvPicPr>
        <p:blipFill>
          <a:blip r:embed="rId9"/>
          <a:stretch>
            <a:fillRect/>
          </a:stretch>
        </p:blipFill>
        <p:spPr>
          <a:xfrm>
            <a:off x="9052560" y="1280160"/>
            <a:ext cx="1280160" cy="1280160"/>
          </a:xfrm>
          <a:prstGeom prst="rect">
            <a:avLst/>
          </a:prstGeom>
        </p:spPr>
      </p:pic>
      <p:pic>
        <p:nvPicPr>
          <p:cNvPr id="13" name="Picture 12" descr="0098_SLO_IR-0_0_overlay.png"/>
          <p:cNvPicPr>
            <a:picLocks noChangeAspect="1"/>
          </p:cNvPicPr>
          <p:nvPr/>
        </p:nvPicPr>
        <p:blipFill>
          <a:blip r:embed="rId10"/>
          <a:stretch>
            <a:fillRect/>
          </a:stretch>
        </p:blipFill>
        <p:spPr>
          <a:xfrm>
            <a:off x="10378440" y="1280160"/>
            <a:ext cx="1280160" cy="1280160"/>
          </a:xfrm>
          <a:prstGeom prst="rect">
            <a:avLst/>
          </a:prstGeom>
        </p:spPr>
      </p:pic>
      <p:sp>
        <p:nvSpPr>
          <p:cNvPr id="14" name="TextBox 13"/>
          <p:cNvSpPr txBox="1"/>
          <p:nvPr/>
        </p:nvSpPr>
        <p:spPr>
          <a:xfrm>
            <a:off x="905256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0098_SLO_IR-0_0</a:t>
            </a:r>
            <a:r>
              <a:rPr sz="1000" b="0" i="0">
                <a:solidFill>
                  <a:srgbClr val="5B6573"/>
                </a:solidFill>
                <a:latin typeface="Calibri"/>
              </a:rPr>
              <a:t>   IR 99.9%</a:t>
            </a:r>
          </a:p>
        </p:txBody>
      </p:sp>
      <p:pic>
        <p:nvPicPr>
          <p:cNvPr id="15" name="Picture 14" descr="0099_SLO_IR-0_0_orig.png"/>
          <p:cNvPicPr>
            <a:picLocks noChangeAspect="1"/>
          </p:cNvPicPr>
          <p:nvPr/>
        </p:nvPicPr>
        <p:blipFill>
          <a:blip r:embed="rId11"/>
          <a:stretch>
            <a:fillRect/>
          </a:stretch>
        </p:blipFill>
        <p:spPr>
          <a:xfrm>
            <a:off x="548640" y="3063239"/>
            <a:ext cx="1280160" cy="1280160"/>
          </a:xfrm>
          <a:prstGeom prst="rect">
            <a:avLst/>
          </a:prstGeom>
        </p:spPr>
      </p:pic>
      <p:pic>
        <p:nvPicPr>
          <p:cNvPr id="16" name="Picture 15" descr="0099_SLO_IR-0_0_overlay.png"/>
          <p:cNvPicPr>
            <a:picLocks noChangeAspect="1"/>
          </p:cNvPicPr>
          <p:nvPr/>
        </p:nvPicPr>
        <p:blipFill>
          <a:blip r:embed="rId12"/>
          <a:stretch>
            <a:fillRect/>
          </a:stretch>
        </p:blipFill>
        <p:spPr>
          <a:xfrm>
            <a:off x="1874519" y="3063239"/>
            <a:ext cx="1280160" cy="1280160"/>
          </a:xfrm>
          <a:prstGeom prst="rect">
            <a:avLst/>
          </a:prstGeom>
        </p:spPr>
      </p:pic>
      <p:sp>
        <p:nvSpPr>
          <p:cNvPr id="17" name="TextBox 16"/>
          <p:cNvSpPr txBox="1"/>
          <p:nvPr/>
        </p:nvSpPr>
        <p:spPr>
          <a:xfrm>
            <a:off x="54864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0099_SLO_IR-0_0</a:t>
            </a:r>
            <a:r>
              <a:rPr sz="1000" b="0" i="0">
                <a:solidFill>
                  <a:srgbClr val="5B6573"/>
                </a:solidFill>
                <a:latin typeface="Calibri"/>
              </a:rPr>
              <a:t>   IR 99.8%</a:t>
            </a:r>
          </a:p>
        </p:txBody>
      </p:sp>
      <p:pic>
        <p:nvPicPr>
          <p:cNvPr id="18" name="Picture 17" descr="0100_SLO_IR-0_0_orig.png"/>
          <p:cNvPicPr>
            <a:picLocks noChangeAspect="1"/>
          </p:cNvPicPr>
          <p:nvPr/>
        </p:nvPicPr>
        <p:blipFill>
          <a:blip r:embed="rId13"/>
          <a:stretch>
            <a:fillRect/>
          </a:stretch>
        </p:blipFill>
        <p:spPr>
          <a:xfrm>
            <a:off x="3383280" y="3063239"/>
            <a:ext cx="1280160" cy="1280160"/>
          </a:xfrm>
          <a:prstGeom prst="rect">
            <a:avLst/>
          </a:prstGeom>
        </p:spPr>
      </p:pic>
      <p:pic>
        <p:nvPicPr>
          <p:cNvPr id="19" name="Picture 18" descr="0100_SLO_IR-0_0_overlay.png"/>
          <p:cNvPicPr>
            <a:picLocks noChangeAspect="1"/>
          </p:cNvPicPr>
          <p:nvPr/>
        </p:nvPicPr>
        <p:blipFill>
          <a:blip r:embed="rId14"/>
          <a:stretch>
            <a:fillRect/>
          </a:stretch>
        </p:blipFill>
        <p:spPr>
          <a:xfrm>
            <a:off x="4709159" y="3063239"/>
            <a:ext cx="1280160" cy="1280160"/>
          </a:xfrm>
          <a:prstGeom prst="rect">
            <a:avLst/>
          </a:prstGeom>
        </p:spPr>
      </p:pic>
      <p:sp>
        <p:nvSpPr>
          <p:cNvPr id="20" name="TextBox 19"/>
          <p:cNvSpPr txBox="1"/>
          <p:nvPr/>
        </p:nvSpPr>
        <p:spPr>
          <a:xfrm>
            <a:off x="338328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0100_SLO_IR-0_0</a:t>
            </a:r>
            <a:r>
              <a:rPr sz="1000" b="0" i="0">
                <a:solidFill>
                  <a:srgbClr val="5B6573"/>
                </a:solidFill>
                <a:latin typeface="Calibri"/>
              </a:rPr>
              <a:t>   IR 99.9%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Appendix: Grad-CAM, OTHER test images (1/2)</a:t>
            </a:r>
          </a:p>
        </p:txBody>
      </p:sp>
      <p:pic>
        <p:nvPicPr>
          <p:cNvPr id="3" name="Picture 2" descr="A05_1_orig.png"/>
          <p:cNvPicPr>
            <a:picLocks noChangeAspect="1"/>
          </p:cNvPicPr>
          <p:nvPr/>
        </p:nvPicPr>
        <p:blipFill>
          <a:blip r:embed="rId3"/>
          <a:stretch>
            <a:fillRect/>
          </a:stretch>
        </p:blipFill>
        <p:spPr>
          <a:xfrm>
            <a:off x="548640" y="1280160"/>
            <a:ext cx="1280160" cy="1280160"/>
          </a:xfrm>
          <a:prstGeom prst="rect">
            <a:avLst/>
          </a:prstGeom>
        </p:spPr>
      </p:pic>
      <p:pic>
        <p:nvPicPr>
          <p:cNvPr id="4" name="Picture 3" descr="A05_1_overlay.png"/>
          <p:cNvPicPr>
            <a:picLocks noChangeAspect="1"/>
          </p:cNvPicPr>
          <p:nvPr/>
        </p:nvPicPr>
        <p:blipFill>
          <a:blip r:embed="rId4"/>
          <a:stretch>
            <a:fillRect/>
          </a:stretch>
        </p:blipFill>
        <p:spPr>
          <a:xfrm>
            <a:off x="1874519" y="1280160"/>
            <a:ext cx="1280160" cy="1280160"/>
          </a:xfrm>
          <a:prstGeom prst="rect">
            <a:avLst/>
          </a:prstGeom>
        </p:spPr>
      </p:pic>
      <p:sp>
        <p:nvSpPr>
          <p:cNvPr id="5" name="TextBox 4"/>
          <p:cNvSpPr txBox="1"/>
          <p:nvPr/>
        </p:nvSpPr>
        <p:spPr>
          <a:xfrm>
            <a:off x="54864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A05_1</a:t>
            </a:r>
            <a:r>
              <a:rPr sz="1000" b="0" i="0">
                <a:solidFill>
                  <a:srgbClr val="5B6573"/>
                </a:solidFill>
                <a:latin typeface="Calibri"/>
              </a:rPr>
              <a:t>   OTHER 99.7%</a:t>
            </a:r>
          </a:p>
        </p:txBody>
      </p:sp>
      <p:pic>
        <p:nvPicPr>
          <p:cNvPr id="6" name="Picture 5" descr="A05_2_orig.png"/>
          <p:cNvPicPr>
            <a:picLocks noChangeAspect="1"/>
          </p:cNvPicPr>
          <p:nvPr/>
        </p:nvPicPr>
        <p:blipFill>
          <a:blip r:embed="rId5"/>
          <a:stretch>
            <a:fillRect/>
          </a:stretch>
        </p:blipFill>
        <p:spPr>
          <a:xfrm>
            <a:off x="3383280" y="1280160"/>
            <a:ext cx="1280160" cy="1280160"/>
          </a:xfrm>
          <a:prstGeom prst="rect">
            <a:avLst/>
          </a:prstGeom>
        </p:spPr>
      </p:pic>
      <p:pic>
        <p:nvPicPr>
          <p:cNvPr id="7" name="Picture 6" descr="A05_2_overlay.png"/>
          <p:cNvPicPr>
            <a:picLocks noChangeAspect="1"/>
          </p:cNvPicPr>
          <p:nvPr/>
        </p:nvPicPr>
        <p:blipFill>
          <a:blip r:embed="rId6"/>
          <a:stretch>
            <a:fillRect/>
          </a:stretch>
        </p:blipFill>
        <p:spPr>
          <a:xfrm>
            <a:off x="4709159" y="1280160"/>
            <a:ext cx="1280160" cy="1280160"/>
          </a:xfrm>
          <a:prstGeom prst="rect">
            <a:avLst/>
          </a:prstGeom>
        </p:spPr>
      </p:pic>
      <p:sp>
        <p:nvSpPr>
          <p:cNvPr id="8" name="TextBox 7"/>
          <p:cNvSpPr txBox="1"/>
          <p:nvPr/>
        </p:nvSpPr>
        <p:spPr>
          <a:xfrm>
            <a:off x="338328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A05_2</a:t>
            </a:r>
            <a:r>
              <a:rPr sz="1000" b="0" i="0">
                <a:solidFill>
                  <a:srgbClr val="5B6573"/>
                </a:solidFill>
                <a:latin typeface="Calibri"/>
              </a:rPr>
              <a:t>   OTHER 99.7%</a:t>
            </a:r>
          </a:p>
        </p:txBody>
      </p:sp>
      <p:pic>
        <p:nvPicPr>
          <p:cNvPr id="9" name="Picture 8" descr="A05_1_orig.png"/>
          <p:cNvPicPr>
            <a:picLocks noChangeAspect="1"/>
          </p:cNvPicPr>
          <p:nvPr/>
        </p:nvPicPr>
        <p:blipFill>
          <a:blip r:embed="rId3"/>
          <a:stretch>
            <a:fillRect/>
          </a:stretch>
        </p:blipFill>
        <p:spPr>
          <a:xfrm>
            <a:off x="6217920" y="1280160"/>
            <a:ext cx="1280160" cy="1280160"/>
          </a:xfrm>
          <a:prstGeom prst="rect">
            <a:avLst/>
          </a:prstGeom>
        </p:spPr>
      </p:pic>
      <p:pic>
        <p:nvPicPr>
          <p:cNvPr id="10" name="Picture 9" descr="A05_1_overlay.png"/>
          <p:cNvPicPr>
            <a:picLocks noChangeAspect="1"/>
          </p:cNvPicPr>
          <p:nvPr/>
        </p:nvPicPr>
        <p:blipFill>
          <a:blip r:embed="rId4"/>
          <a:stretch>
            <a:fillRect/>
          </a:stretch>
        </p:blipFill>
        <p:spPr>
          <a:xfrm>
            <a:off x="7543800" y="1280160"/>
            <a:ext cx="1280160" cy="1280160"/>
          </a:xfrm>
          <a:prstGeom prst="rect">
            <a:avLst/>
          </a:prstGeom>
        </p:spPr>
      </p:pic>
      <p:sp>
        <p:nvSpPr>
          <p:cNvPr id="11" name="TextBox 10"/>
          <p:cNvSpPr txBox="1"/>
          <p:nvPr/>
        </p:nvSpPr>
        <p:spPr>
          <a:xfrm>
            <a:off x="621792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A06_1</a:t>
            </a:r>
            <a:r>
              <a:rPr sz="1000" b="0" i="0">
                <a:solidFill>
                  <a:srgbClr val="5B6573"/>
                </a:solidFill>
                <a:latin typeface="Calibri"/>
              </a:rPr>
              <a:t>   OTHER 99.7%</a:t>
            </a:r>
          </a:p>
        </p:txBody>
      </p:sp>
      <p:pic>
        <p:nvPicPr>
          <p:cNvPr id="12" name="Picture 11" descr="A06_2_orig.png"/>
          <p:cNvPicPr>
            <a:picLocks noChangeAspect="1"/>
          </p:cNvPicPr>
          <p:nvPr/>
        </p:nvPicPr>
        <p:blipFill>
          <a:blip r:embed="rId7"/>
          <a:stretch>
            <a:fillRect/>
          </a:stretch>
        </p:blipFill>
        <p:spPr>
          <a:xfrm>
            <a:off x="9052560" y="1280160"/>
            <a:ext cx="1280160" cy="1280160"/>
          </a:xfrm>
          <a:prstGeom prst="rect">
            <a:avLst/>
          </a:prstGeom>
        </p:spPr>
      </p:pic>
      <p:pic>
        <p:nvPicPr>
          <p:cNvPr id="13" name="Picture 12" descr="A06_2_overlay.png"/>
          <p:cNvPicPr>
            <a:picLocks noChangeAspect="1"/>
          </p:cNvPicPr>
          <p:nvPr/>
        </p:nvPicPr>
        <p:blipFill>
          <a:blip r:embed="rId8"/>
          <a:stretch>
            <a:fillRect/>
          </a:stretch>
        </p:blipFill>
        <p:spPr>
          <a:xfrm>
            <a:off x="10378440" y="1280160"/>
            <a:ext cx="1280160" cy="1280160"/>
          </a:xfrm>
          <a:prstGeom prst="rect">
            <a:avLst/>
          </a:prstGeom>
        </p:spPr>
      </p:pic>
      <p:sp>
        <p:nvSpPr>
          <p:cNvPr id="14" name="TextBox 13"/>
          <p:cNvSpPr txBox="1"/>
          <p:nvPr/>
        </p:nvSpPr>
        <p:spPr>
          <a:xfrm>
            <a:off x="905256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A06_2</a:t>
            </a:r>
            <a:r>
              <a:rPr sz="1000" b="0" i="0">
                <a:solidFill>
                  <a:srgbClr val="5B6573"/>
                </a:solidFill>
                <a:latin typeface="Calibri"/>
              </a:rPr>
              <a:t>   OTHER 99.7%</a:t>
            </a:r>
          </a:p>
        </p:txBody>
      </p:sp>
      <p:pic>
        <p:nvPicPr>
          <p:cNvPr id="15" name="Picture 14" descr="A07_1_orig.png"/>
          <p:cNvPicPr>
            <a:picLocks noChangeAspect="1"/>
          </p:cNvPicPr>
          <p:nvPr/>
        </p:nvPicPr>
        <p:blipFill>
          <a:blip r:embed="rId9"/>
          <a:stretch>
            <a:fillRect/>
          </a:stretch>
        </p:blipFill>
        <p:spPr>
          <a:xfrm>
            <a:off x="548640" y="3063239"/>
            <a:ext cx="1280160" cy="1280160"/>
          </a:xfrm>
          <a:prstGeom prst="rect">
            <a:avLst/>
          </a:prstGeom>
        </p:spPr>
      </p:pic>
      <p:pic>
        <p:nvPicPr>
          <p:cNvPr id="16" name="Picture 15" descr="A07_1_overlay.png"/>
          <p:cNvPicPr>
            <a:picLocks noChangeAspect="1"/>
          </p:cNvPicPr>
          <p:nvPr/>
        </p:nvPicPr>
        <p:blipFill>
          <a:blip r:embed="rId10"/>
          <a:stretch>
            <a:fillRect/>
          </a:stretch>
        </p:blipFill>
        <p:spPr>
          <a:xfrm>
            <a:off x="1874519" y="3063239"/>
            <a:ext cx="1280160" cy="1280160"/>
          </a:xfrm>
          <a:prstGeom prst="rect">
            <a:avLst/>
          </a:prstGeom>
        </p:spPr>
      </p:pic>
      <p:sp>
        <p:nvSpPr>
          <p:cNvPr id="17" name="TextBox 16"/>
          <p:cNvSpPr txBox="1"/>
          <p:nvPr/>
        </p:nvSpPr>
        <p:spPr>
          <a:xfrm>
            <a:off x="54864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A07_1</a:t>
            </a:r>
            <a:r>
              <a:rPr sz="1000" b="0" i="0">
                <a:solidFill>
                  <a:srgbClr val="5B6573"/>
                </a:solidFill>
                <a:latin typeface="Calibri"/>
              </a:rPr>
              <a:t>   OTHER 99.6%</a:t>
            </a:r>
          </a:p>
        </p:txBody>
      </p:sp>
      <p:pic>
        <p:nvPicPr>
          <p:cNvPr id="18" name="Picture 17" descr="A07_2_orig.png"/>
          <p:cNvPicPr>
            <a:picLocks noChangeAspect="1"/>
          </p:cNvPicPr>
          <p:nvPr/>
        </p:nvPicPr>
        <p:blipFill>
          <a:blip r:embed="rId11"/>
          <a:stretch>
            <a:fillRect/>
          </a:stretch>
        </p:blipFill>
        <p:spPr>
          <a:xfrm>
            <a:off x="3383280" y="3063239"/>
            <a:ext cx="1280160" cy="1280160"/>
          </a:xfrm>
          <a:prstGeom prst="rect">
            <a:avLst/>
          </a:prstGeom>
        </p:spPr>
      </p:pic>
      <p:pic>
        <p:nvPicPr>
          <p:cNvPr id="19" name="Picture 18" descr="A07_2_overlay.png"/>
          <p:cNvPicPr>
            <a:picLocks noChangeAspect="1"/>
          </p:cNvPicPr>
          <p:nvPr/>
        </p:nvPicPr>
        <p:blipFill>
          <a:blip r:embed="rId12"/>
          <a:stretch>
            <a:fillRect/>
          </a:stretch>
        </p:blipFill>
        <p:spPr>
          <a:xfrm>
            <a:off x="4709159" y="3063239"/>
            <a:ext cx="1280160" cy="1280160"/>
          </a:xfrm>
          <a:prstGeom prst="rect">
            <a:avLst/>
          </a:prstGeom>
        </p:spPr>
      </p:pic>
      <p:sp>
        <p:nvSpPr>
          <p:cNvPr id="20" name="TextBox 19"/>
          <p:cNvSpPr txBox="1"/>
          <p:nvPr/>
        </p:nvSpPr>
        <p:spPr>
          <a:xfrm>
            <a:off x="338328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A07_2</a:t>
            </a:r>
            <a:r>
              <a:rPr sz="1000" b="0" i="0">
                <a:solidFill>
                  <a:srgbClr val="5B6573"/>
                </a:solidFill>
                <a:latin typeface="Calibri"/>
              </a:rPr>
              <a:t>   OTHER 99.7%</a:t>
            </a:r>
          </a:p>
        </p:txBody>
      </p:sp>
      <p:pic>
        <p:nvPicPr>
          <p:cNvPr id="21" name="Picture 20" descr="A07_1_orig.png"/>
          <p:cNvPicPr>
            <a:picLocks noChangeAspect="1"/>
          </p:cNvPicPr>
          <p:nvPr/>
        </p:nvPicPr>
        <p:blipFill>
          <a:blip r:embed="rId9"/>
          <a:stretch>
            <a:fillRect/>
          </a:stretch>
        </p:blipFill>
        <p:spPr>
          <a:xfrm>
            <a:off x="6217920" y="3063239"/>
            <a:ext cx="1280160" cy="1280160"/>
          </a:xfrm>
          <a:prstGeom prst="rect">
            <a:avLst/>
          </a:prstGeom>
        </p:spPr>
      </p:pic>
      <p:pic>
        <p:nvPicPr>
          <p:cNvPr id="22" name="Picture 21" descr="A07_1_overlay.png"/>
          <p:cNvPicPr>
            <a:picLocks noChangeAspect="1"/>
          </p:cNvPicPr>
          <p:nvPr/>
        </p:nvPicPr>
        <p:blipFill>
          <a:blip r:embed="rId10"/>
          <a:stretch>
            <a:fillRect/>
          </a:stretch>
        </p:blipFill>
        <p:spPr>
          <a:xfrm>
            <a:off x="7543800" y="3063239"/>
            <a:ext cx="1280160" cy="1280160"/>
          </a:xfrm>
          <a:prstGeom prst="rect">
            <a:avLst/>
          </a:prstGeom>
        </p:spPr>
      </p:pic>
      <p:sp>
        <p:nvSpPr>
          <p:cNvPr id="23" name="TextBox 22"/>
          <p:cNvSpPr txBox="1"/>
          <p:nvPr/>
        </p:nvSpPr>
        <p:spPr>
          <a:xfrm>
            <a:off x="621792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A08_1</a:t>
            </a:r>
            <a:r>
              <a:rPr sz="1000" b="0" i="0">
                <a:solidFill>
                  <a:srgbClr val="5B6573"/>
                </a:solidFill>
                <a:latin typeface="Calibri"/>
              </a:rPr>
              <a:t>   OTHER 99.6%</a:t>
            </a:r>
          </a:p>
        </p:txBody>
      </p:sp>
      <p:pic>
        <p:nvPicPr>
          <p:cNvPr id="24" name="Picture 23" descr="A08_2_orig.png"/>
          <p:cNvPicPr>
            <a:picLocks noChangeAspect="1"/>
          </p:cNvPicPr>
          <p:nvPr/>
        </p:nvPicPr>
        <p:blipFill>
          <a:blip r:embed="rId13"/>
          <a:stretch>
            <a:fillRect/>
          </a:stretch>
        </p:blipFill>
        <p:spPr>
          <a:xfrm>
            <a:off x="9052560" y="3063239"/>
            <a:ext cx="1280160" cy="1280160"/>
          </a:xfrm>
          <a:prstGeom prst="rect">
            <a:avLst/>
          </a:prstGeom>
        </p:spPr>
      </p:pic>
      <p:pic>
        <p:nvPicPr>
          <p:cNvPr id="25" name="Picture 24" descr="A08_2_overlay.png"/>
          <p:cNvPicPr>
            <a:picLocks noChangeAspect="1"/>
          </p:cNvPicPr>
          <p:nvPr/>
        </p:nvPicPr>
        <p:blipFill>
          <a:blip r:embed="rId14"/>
          <a:stretch>
            <a:fillRect/>
          </a:stretch>
        </p:blipFill>
        <p:spPr>
          <a:xfrm>
            <a:off x="10378440" y="3063239"/>
            <a:ext cx="1280160" cy="1280160"/>
          </a:xfrm>
          <a:prstGeom prst="rect">
            <a:avLst/>
          </a:prstGeom>
        </p:spPr>
      </p:pic>
      <p:sp>
        <p:nvSpPr>
          <p:cNvPr id="26" name="TextBox 25"/>
          <p:cNvSpPr txBox="1"/>
          <p:nvPr/>
        </p:nvSpPr>
        <p:spPr>
          <a:xfrm>
            <a:off x="905256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A08_2</a:t>
            </a:r>
            <a:r>
              <a:rPr sz="1000" b="0" i="0">
                <a:solidFill>
                  <a:srgbClr val="5B6573"/>
                </a:solidFill>
                <a:latin typeface="Calibri"/>
              </a:rPr>
              <a:t>   OTHER 99.3%</a:t>
            </a:r>
          </a:p>
        </p:txBody>
      </p:sp>
      <p:pic>
        <p:nvPicPr>
          <p:cNvPr id="27" name="Picture 26" descr="A07_2_orig.png"/>
          <p:cNvPicPr>
            <a:picLocks noChangeAspect="1"/>
          </p:cNvPicPr>
          <p:nvPr/>
        </p:nvPicPr>
        <p:blipFill>
          <a:blip r:embed="rId11"/>
          <a:stretch>
            <a:fillRect/>
          </a:stretch>
        </p:blipFill>
        <p:spPr>
          <a:xfrm>
            <a:off x="548640" y="4846320"/>
            <a:ext cx="1280160" cy="1280160"/>
          </a:xfrm>
          <a:prstGeom prst="rect">
            <a:avLst/>
          </a:prstGeom>
        </p:spPr>
      </p:pic>
      <p:pic>
        <p:nvPicPr>
          <p:cNvPr id="28" name="Picture 27" descr="A07_2_overlay.png"/>
          <p:cNvPicPr>
            <a:picLocks noChangeAspect="1"/>
          </p:cNvPicPr>
          <p:nvPr/>
        </p:nvPicPr>
        <p:blipFill>
          <a:blip r:embed="rId12"/>
          <a:stretch>
            <a:fillRect/>
          </a:stretch>
        </p:blipFill>
        <p:spPr>
          <a:xfrm>
            <a:off x="1874519" y="4846320"/>
            <a:ext cx="1280160" cy="1280160"/>
          </a:xfrm>
          <a:prstGeom prst="rect">
            <a:avLst/>
          </a:prstGeom>
        </p:spPr>
      </p:pic>
      <p:sp>
        <p:nvSpPr>
          <p:cNvPr id="29" name="TextBox 28"/>
          <p:cNvSpPr txBox="1"/>
          <p:nvPr/>
        </p:nvSpPr>
        <p:spPr>
          <a:xfrm>
            <a:off x="54864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A09_1</a:t>
            </a:r>
            <a:r>
              <a:rPr sz="1000" b="0" i="0">
                <a:solidFill>
                  <a:srgbClr val="5B6573"/>
                </a:solidFill>
                <a:latin typeface="Calibri"/>
              </a:rPr>
              <a:t>   OTHER 99.7%</a:t>
            </a:r>
          </a:p>
        </p:txBody>
      </p:sp>
      <p:pic>
        <p:nvPicPr>
          <p:cNvPr id="30" name="Picture 29" descr="A08_2_orig.png"/>
          <p:cNvPicPr>
            <a:picLocks noChangeAspect="1"/>
          </p:cNvPicPr>
          <p:nvPr/>
        </p:nvPicPr>
        <p:blipFill>
          <a:blip r:embed="rId13"/>
          <a:stretch>
            <a:fillRect/>
          </a:stretch>
        </p:blipFill>
        <p:spPr>
          <a:xfrm>
            <a:off x="3383280" y="4846320"/>
            <a:ext cx="1280160" cy="1280160"/>
          </a:xfrm>
          <a:prstGeom prst="rect">
            <a:avLst/>
          </a:prstGeom>
        </p:spPr>
      </p:pic>
      <p:pic>
        <p:nvPicPr>
          <p:cNvPr id="31" name="Picture 30" descr="A08_2_overlay.png"/>
          <p:cNvPicPr>
            <a:picLocks noChangeAspect="1"/>
          </p:cNvPicPr>
          <p:nvPr/>
        </p:nvPicPr>
        <p:blipFill>
          <a:blip r:embed="rId14"/>
          <a:stretch>
            <a:fillRect/>
          </a:stretch>
        </p:blipFill>
        <p:spPr>
          <a:xfrm>
            <a:off x="4709159" y="4846320"/>
            <a:ext cx="1280160" cy="1280160"/>
          </a:xfrm>
          <a:prstGeom prst="rect">
            <a:avLst/>
          </a:prstGeom>
        </p:spPr>
      </p:pic>
      <p:sp>
        <p:nvSpPr>
          <p:cNvPr id="32" name="TextBox 31"/>
          <p:cNvSpPr txBox="1"/>
          <p:nvPr/>
        </p:nvSpPr>
        <p:spPr>
          <a:xfrm>
            <a:off x="338328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A09_2</a:t>
            </a:r>
            <a:r>
              <a:rPr sz="1000" b="0" i="0">
                <a:solidFill>
                  <a:srgbClr val="5B6573"/>
                </a:solidFill>
                <a:latin typeface="Calibri"/>
              </a:rPr>
              <a:t>   OTHER 99.3%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731520"/>
          </a:xfrm>
          <a:prstGeom prst="rect">
            <a:avLst/>
          </a:prstGeom>
          <a:noFill/>
        </p:spPr>
        <p:txBody>
          <a:bodyPr wrap="square" lIns="0" tIns="0" rIns="0" bIns="0" anchor="ctr">
            <a:spAutoFit/>
          </a:bodyPr>
          <a:lstStyle/>
          <a:p>
            <a:pPr algn="l"/>
            <a:r>
              <a:rPr sz="3400" b="1" i="0">
                <a:solidFill>
                  <a:srgbClr val="14213D"/>
                </a:solidFill>
                <a:latin typeface="Cambria"/>
              </a:rPr>
              <a:t>Appendix: Grad-CAM, OTHER test images (2/2)</a:t>
            </a:r>
          </a:p>
        </p:txBody>
      </p:sp>
      <p:pic>
        <p:nvPicPr>
          <p:cNvPr id="3" name="Picture 2" descr="Montage_Subject_4_orig.png"/>
          <p:cNvPicPr>
            <a:picLocks noChangeAspect="1"/>
          </p:cNvPicPr>
          <p:nvPr/>
        </p:nvPicPr>
        <p:blipFill>
          <a:blip r:embed="rId3"/>
          <a:stretch>
            <a:fillRect/>
          </a:stretch>
        </p:blipFill>
        <p:spPr>
          <a:xfrm>
            <a:off x="548640" y="1280160"/>
            <a:ext cx="1280160" cy="1280160"/>
          </a:xfrm>
          <a:prstGeom prst="rect">
            <a:avLst/>
          </a:prstGeom>
        </p:spPr>
      </p:pic>
      <p:pic>
        <p:nvPicPr>
          <p:cNvPr id="4" name="Picture 3" descr="Montage_Subject_4_overlay.png"/>
          <p:cNvPicPr>
            <a:picLocks noChangeAspect="1"/>
          </p:cNvPicPr>
          <p:nvPr/>
        </p:nvPicPr>
        <p:blipFill>
          <a:blip r:embed="rId4"/>
          <a:stretch>
            <a:fillRect/>
          </a:stretch>
        </p:blipFill>
        <p:spPr>
          <a:xfrm>
            <a:off x="1874519" y="1280160"/>
            <a:ext cx="1280160" cy="1280160"/>
          </a:xfrm>
          <a:prstGeom prst="rect">
            <a:avLst/>
          </a:prstGeom>
        </p:spPr>
      </p:pic>
      <p:sp>
        <p:nvSpPr>
          <p:cNvPr id="5" name="TextBox 4"/>
          <p:cNvSpPr txBox="1"/>
          <p:nvPr/>
        </p:nvSpPr>
        <p:spPr>
          <a:xfrm>
            <a:off x="54864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Montage_Subject_4</a:t>
            </a:r>
            <a:r>
              <a:rPr sz="1000" b="0" i="0">
                <a:solidFill>
                  <a:srgbClr val="5B6573"/>
                </a:solidFill>
                <a:latin typeface="Calibri"/>
              </a:rPr>
              <a:t>   OTHER 99.6%</a:t>
            </a:r>
          </a:p>
        </p:txBody>
      </p:sp>
      <p:pic>
        <p:nvPicPr>
          <p:cNvPr id="6" name="Picture 5" descr="P35_1_orig.png"/>
          <p:cNvPicPr>
            <a:picLocks noChangeAspect="1"/>
          </p:cNvPicPr>
          <p:nvPr/>
        </p:nvPicPr>
        <p:blipFill>
          <a:blip r:embed="rId5"/>
          <a:stretch>
            <a:fillRect/>
          </a:stretch>
        </p:blipFill>
        <p:spPr>
          <a:xfrm>
            <a:off x="3383280" y="1280160"/>
            <a:ext cx="1280160" cy="1280160"/>
          </a:xfrm>
          <a:prstGeom prst="rect">
            <a:avLst/>
          </a:prstGeom>
        </p:spPr>
      </p:pic>
      <p:pic>
        <p:nvPicPr>
          <p:cNvPr id="7" name="Picture 6" descr="P35_1_overlay.png"/>
          <p:cNvPicPr>
            <a:picLocks noChangeAspect="1"/>
          </p:cNvPicPr>
          <p:nvPr/>
        </p:nvPicPr>
        <p:blipFill>
          <a:blip r:embed="rId6"/>
          <a:stretch>
            <a:fillRect/>
          </a:stretch>
        </p:blipFill>
        <p:spPr>
          <a:xfrm>
            <a:off x="4709159" y="1280160"/>
            <a:ext cx="1280160" cy="1280160"/>
          </a:xfrm>
          <a:prstGeom prst="rect">
            <a:avLst/>
          </a:prstGeom>
        </p:spPr>
      </p:pic>
      <p:sp>
        <p:nvSpPr>
          <p:cNvPr id="8" name="TextBox 7"/>
          <p:cNvSpPr txBox="1"/>
          <p:nvPr/>
        </p:nvSpPr>
        <p:spPr>
          <a:xfrm>
            <a:off x="338328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P35_1</a:t>
            </a:r>
            <a:r>
              <a:rPr sz="1000" b="0" i="0">
                <a:solidFill>
                  <a:srgbClr val="5B6573"/>
                </a:solidFill>
                <a:latin typeface="Calibri"/>
              </a:rPr>
              <a:t>   OTHER 99.6%</a:t>
            </a:r>
          </a:p>
        </p:txBody>
      </p:sp>
      <p:pic>
        <p:nvPicPr>
          <p:cNvPr id="9" name="Picture 8" descr="P35_2_orig.png"/>
          <p:cNvPicPr>
            <a:picLocks noChangeAspect="1"/>
          </p:cNvPicPr>
          <p:nvPr/>
        </p:nvPicPr>
        <p:blipFill>
          <a:blip r:embed="rId7"/>
          <a:stretch>
            <a:fillRect/>
          </a:stretch>
        </p:blipFill>
        <p:spPr>
          <a:xfrm>
            <a:off x="6217920" y="1280160"/>
            <a:ext cx="1280160" cy="1280160"/>
          </a:xfrm>
          <a:prstGeom prst="rect">
            <a:avLst/>
          </a:prstGeom>
        </p:spPr>
      </p:pic>
      <p:pic>
        <p:nvPicPr>
          <p:cNvPr id="10" name="Picture 9" descr="P35_2_overlay.png"/>
          <p:cNvPicPr>
            <a:picLocks noChangeAspect="1"/>
          </p:cNvPicPr>
          <p:nvPr/>
        </p:nvPicPr>
        <p:blipFill>
          <a:blip r:embed="rId8"/>
          <a:stretch>
            <a:fillRect/>
          </a:stretch>
        </p:blipFill>
        <p:spPr>
          <a:xfrm>
            <a:off x="7543800" y="1280160"/>
            <a:ext cx="1280160" cy="1280160"/>
          </a:xfrm>
          <a:prstGeom prst="rect">
            <a:avLst/>
          </a:prstGeom>
        </p:spPr>
      </p:pic>
      <p:sp>
        <p:nvSpPr>
          <p:cNvPr id="11" name="TextBox 10"/>
          <p:cNvSpPr txBox="1"/>
          <p:nvPr/>
        </p:nvSpPr>
        <p:spPr>
          <a:xfrm>
            <a:off x="621792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P35_2</a:t>
            </a:r>
            <a:r>
              <a:rPr sz="1000" b="0" i="0">
                <a:solidFill>
                  <a:srgbClr val="5B6573"/>
                </a:solidFill>
                <a:latin typeface="Calibri"/>
              </a:rPr>
              <a:t>   OTHER 99.1%</a:t>
            </a:r>
          </a:p>
        </p:txBody>
      </p:sp>
      <p:pic>
        <p:nvPicPr>
          <p:cNvPr id="12" name="Picture 11" descr="P36_1_orig.png"/>
          <p:cNvPicPr>
            <a:picLocks noChangeAspect="1"/>
          </p:cNvPicPr>
          <p:nvPr/>
        </p:nvPicPr>
        <p:blipFill>
          <a:blip r:embed="rId9"/>
          <a:stretch>
            <a:fillRect/>
          </a:stretch>
        </p:blipFill>
        <p:spPr>
          <a:xfrm>
            <a:off x="9052560" y="1280160"/>
            <a:ext cx="1280160" cy="1280160"/>
          </a:xfrm>
          <a:prstGeom prst="rect">
            <a:avLst/>
          </a:prstGeom>
        </p:spPr>
      </p:pic>
      <p:pic>
        <p:nvPicPr>
          <p:cNvPr id="13" name="Picture 12" descr="P36_1_overlay.png"/>
          <p:cNvPicPr>
            <a:picLocks noChangeAspect="1"/>
          </p:cNvPicPr>
          <p:nvPr/>
        </p:nvPicPr>
        <p:blipFill>
          <a:blip r:embed="rId10"/>
          <a:stretch>
            <a:fillRect/>
          </a:stretch>
        </p:blipFill>
        <p:spPr>
          <a:xfrm>
            <a:off x="10378440" y="1280160"/>
            <a:ext cx="1280160" cy="1280160"/>
          </a:xfrm>
          <a:prstGeom prst="rect">
            <a:avLst/>
          </a:prstGeom>
        </p:spPr>
      </p:pic>
      <p:sp>
        <p:nvSpPr>
          <p:cNvPr id="14" name="TextBox 13"/>
          <p:cNvSpPr txBox="1"/>
          <p:nvPr/>
        </p:nvSpPr>
        <p:spPr>
          <a:xfrm>
            <a:off x="9052560" y="2606039"/>
            <a:ext cx="2606039" cy="365760"/>
          </a:xfrm>
          <a:prstGeom prst="rect">
            <a:avLst/>
          </a:prstGeom>
          <a:noFill/>
        </p:spPr>
        <p:txBody>
          <a:bodyPr wrap="square" lIns="0" tIns="0" rIns="0" bIns="0" anchor="t">
            <a:spAutoFit/>
          </a:bodyPr>
          <a:lstStyle/>
          <a:p>
            <a:pPr algn="ctr"/>
            <a:r>
              <a:rPr sz="1000" b="1" i="0">
                <a:solidFill>
                  <a:srgbClr val="1F2933"/>
                </a:solidFill>
                <a:latin typeface="Calibri"/>
              </a:rPr>
              <a:t>P36_1</a:t>
            </a:r>
            <a:r>
              <a:rPr sz="1000" b="0" i="0">
                <a:solidFill>
                  <a:srgbClr val="5B6573"/>
                </a:solidFill>
                <a:latin typeface="Calibri"/>
              </a:rPr>
              <a:t>   OTHER 99.8%</a:t>
            </a:r>
          </a:p>
        </p:txBody>
      </p:sp>
      <p:pic>
        <p:nvPicPr>
          <p:cNvPr id="15" name="Picture 14" descr="Raw_FA_1_Subject_3_orig.png"/>
          <p:cNvPicPr>
            <a:picLocks noChangeAspect="1"/>
          </p:cNvPicPr>
          <p:nvPr/>
        </p:nvPicPr>
        <p:blipFill>
          <a:blip r:embed="rId11"/>
          <a:stretch>
            <a:fillRect/>
          </a:stretch>
        </p:blipFill>
        <p:spPr>
          <a:xfrm>
            <a:off x="548640" y="3063239"/>
            <a:ext cx="1280160" cy="1280160"/>
          </a:xfrm>
          <a:prstGeom prst="rect">
            <a:avLst/>
          </a:prstGeom>
        </p:spPr>
      </p:pic>
      <p:pic>
        <p:nvPicPr>
          <p:cNvPr id="16" name="Picture 15" descr="Raw_FA_1_Subject_3_overlay.png"/>
          <p:cNvPicPr>
            <a:picLocks noChangeAspect="1"/>
          </p:cNvPicPr>
          <p:nvPr/>
        </p:nvPicPr>
        <p:blipFill>
          <a:blip r:embed="rId12"/>
          <a:stretch>
            <a:fillRect/>
          </a:stretch>
        </p:blipFill>
        <p:spPr>
          <a:xfrm>
            <a:off x="1874519" y="3063239"/>
            <a:ext cx="1280160" cy="1280160"/>
          </a:xfrm>
          <a:prstGeom prst="rect">
            <a:avLst/>
          </a:prstGeom>
        </p:spPr>
      </p:pic>
      <p:sp>
        <p:nvSpPr>
          <p:cNvPr id="17" name="TextBox 16"/>
          <p:cNvSpPr txBox="1"/>
          <p:nvPr/>
        </p:nvSpPr>
        <p:spPr>
          <a:xfrm>
            <a:off x="54864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Raw_FA_1_Subject_3</a:t>
            </a:r>
            <a:r>
              <a:rPr sz="1000" b="0" i="0">
                <a:solidFill>
                  <a:srgbClr val="5B6573"/>
                </a:solidFill>
                <a:latin typeface="Calibri"/>
              </a:rPr>
              <a:t>   OTHER 99.9%</a:t>
            </a:r>
          </a:p>
        </p:txBody>
      </p:sp>
      <p:pic>
        <p:nvPicPr>
          <p:cNvPr id="18" name="Picture 17" descr="Raw_FA_1_Subject_4_orig.png"/>
          <p:cNvPicPr>
            <a:picLocks noChangeAspect="1"/>
          </p:cNvPicPr>
          <p:nvPr/>
        </p:nvPicPr>
        <p:blipFill>
          <a:blip r:embed="rId13"/>
          <a:stretch>
            <a:fillRect/>
          </a:stretch>
        </p:blipFill>
        <p:spPr>
          <a:xfrm>
            <a:off x="3383280" y="3063239"/>
            <a:ext cx="1280160" cy="1280160"/>
          </a:xfrm>
          <a:prstGeom prst="rect">
            <a:avLst/>
          </a:prstGeom>
        </p:spPr>
      </p:pic>
      <p:pic>
        <p:nvPicPr>
          <p:cNvPr id="19" name="Picture 18" descr="Raw_FA_1_Subject_4_overlay.png"/>
          <p:cNvPicPr>
            <a:picLocks noChangeAspect="1"/>
          </p:cNvPicPr>
          <p:nvPr/>
        </p:nvPicPr>
        <p:blipFill>
          <a:blip r:embed="rId14"/>
          <a:stretch>
            <a:fillRect/>
          </a:stretch>
        </p:blipFill>
        <p:spPr>
          <a:xfrm>
            <a:off x="4709159" y="3063239"/>
            <a:ext cx="1280160" cy="1280160"/>
          </a:xfrm>
          <a:prstGeom prst="rect">
            <a:avLst/>
          </a:prstGeom>
        </p:spPr>
      </p:pic>
      <p:sp>
        <p:nvSpPr>
          <p:cNvPr id="20" name="TextBox 19"/>
          <p:cNvSpPr txBox="1"/>
          <p:nvPr/>
        </p:nvSpPr>
        <p:spPr>
          <a:xfrm>
            <a:off x="338328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Raw_FA_1_Subject_4</a:t>
            </a:r>
            <a:r>
              <a:rPr sz="1000" b="0" i="0">
                <a:solidFill>
                  <a:srgbClr val="5B6573"/>
                </a:solidFill>
                <a:latin typeface="Calibri"/>
              </a:rPr>
              <a:t>   OTHER 99.7%</a:t>
            </a:r>
          </a:p>
        </p:txBody>
      </p:sp>
      <p:pic>
        <p:nvPicPr>
          <p:cNvPr id="21" name="Picture 20" descr="Raw_FA_2_Subject_3_orig.png"/>
          <p:cNvPicPr>
            <a:picLocks noChangeAspect="1"/>
          </p:cNvPicPr>
          <p:nvPr/>
        </p:nvPicPr>
        <p:blipFill>
          <a:blip r:embed="rId15"/>
          <a:stretch>
            <a:fillRect/>
          </a:stretch>
        </p:blipFill>
        <p:spPr>
          <a:xfrm>
            <a:off x="6217920" y="3063239"/>
            <a:ext cx="1280160" cy="1280160"/>
          </a:xfrm>
          <a:prstGeom prst="rect">
            <a:avLst/>
          </a:prstGeom>
        </p:spPr>
      </p:pic>
      <p:pic>
        <p:nvPicPr>
          <p:cNvPr id="22" name="Picture 21" descr="Raw_FA_2_Subject_3_overlay.png"/>
          <p:cNvPicPr>
            <a:picLocks noChangeAspect="1"/>
          </p:cNvPicPr>
          <p:nvPr/>
        </p:nvPicPr>
        <p:blipFill>
          <a:blip r:embed="rId16"/>
          <a:stretch>
            <a:fillRect/>
          </a:stretch>
        </p:blipFill>
        <p:spPr>
          <a:xfrm>
            <a:off x="7543800" y="3063239"/>
            <a:ext cx="1280160" cy="1280160"/>
          </a:xfrm>
          <a:prstGeom prst="rect">
            <a:avLst/>
          </a:prstGeom>
        </p:spPr>
      </p:pic>
      <p:sp>
        <p:nvSpPr>
          <p:cNvPr id="23" name="TextBox 22"/>
          <p:cNvSpPr txBox="1"/>
          <p:nvPr/>
        </p:nvSpPr>
        <p:spPr>
          <a:xfrm>
            <a:off x="621792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Raw_FA_2_Subject_3</a:t>
            </a:r>
            <a:r>
              <a:rPr sz="1000" b="0" i="0">
                <a:solidFill>
                  <a:srgbClr val="5B6573"/>
                </a:solidFill>
                <a:latin typeface="Calibri"/>
              </a:rPr>
              <a:t>   OTHER 99.9%</a:t>
            </a:r>
          </a:p>
        </p:txBody>
      </p:sp>
      <p:pic>
        <p:nvPicPr>
          <p:cNvPr id="24" name="Picture 23" descr="Raw_FA_2_Subject_4_orig.png"/>
          <p:cNvPicPr>
            <a:picLocks noChangeAspect="1"/>
          </p:cNvPicPr>
          <p:nvPr/>
        </p:nvPicPr>
        <p:blipFill>
          <a:blip r:embed="rId17"/>
          <a:stretch>
            <a:fillRect/>
          </a:stretch>
        </p:blipFill>
        <p:spPr>
          <a:xfrm>
            <a:off x="9052560" y="3063239"/>
            <a:ext cx="1280160" cy="1280160"/>
          </a:xfrm>
          <a:prstGeom prst="rect">
            <a:avLst/>
          </a:prstGeom>
        </p:spPr>
      </p:pic>
      <p:pic>
        <p:nvPicPr>
          <p:cNvPr id="25" name="Picture 24" descr="Raw_FA_2_Subject_4_overlay.png"/>
          <p:cNvPicPr>
            <a:picLocks noChangeAspect="1"/>
          </p:cNvPicPr>
          <p:nvPr/>
        </p:nvPicPr>
        <p:blipFill>
          <a:blip r:embed="rId18"/>
          <a:stretch>
            <a:fillRect/>
          </a:stretch>
        </p:blipFill>
        <p:spPr>
          <a:xfrm>
            <a:off x="10378440" y="3063239"/>
            <a:ext cx="1280160" cy="1280160"/>
          </a:xfrm>
          <a:prstGeom prst="rect">
            <a:avLst/>
          </a:prstGeom>
        </p:spPr>
      </p:pic>
      <p:sp>
        <p:nvSpPr>
          <p:cNvPr id="26" name="TextBox 25"/>
          <p:cNvSpPr txBox="1"/>
          <p:nvPr/>
        </p:nvSpPr>
        <p:spPr>
          <a:xfrm>
            <a:off x="9052560" y="4389120"/>
            <a:ext cx="2606039" cy="365760"/>
          </a:xfrm>
          <a:prstGeom prst="rect">
            <a:avLst/>
          </a:prstGeom>
          <a:noFill/>
        </p:spPr>
        <p:txBody>
          <a:bodyPr wrap="square" lIns="0" tIns="0" rIns="0" bIns="0" anchor="t">
            <a:spAutoFit/>
          </a:bodyPr>
          <a:lstStyle/>
          <a:p>
            <a:pPr algn="ctr"/>
            <a:r>
              <a:rPr sz="1000" b="1" i="0">
                <a:solidFill>
                  <a:srgbClr val="1F2933"/>
                </a:solidFill>
                <a:latin typeface="Calibri"/>
              </a:rPr>
              <a:t>Raw_FA_2_Subject_4</a:t>
            </a:r>
            <a:r>
              <a:rPr sz="1000" b="0" i="0">
                <a:solidFill>
                  <a:srgbClr val="5B6573"/>
                </a:solidFill>
                <a:latin typeface="Calibri"/>
              </a:rPr>
              <a:t>   OTHER 99.8%</a:t>
            </a:r>
          </a:p>
        </p:txBody>
      </p:sp>
      <p:pic>
        <p:nvPicPr>
          <p:cNvPr id="27" name="Picture 26" descr="Raw_FA_3_Subject_2_orig.png"/>
          <p:cNvPicPr>
            <a:picLocks noChangeAspect="1"/>
          </p:cNvPicPr>
          <p:nvPr/>
        </p:nvPicPr>
        <p:blipFill>
          <a:blip r:embed="rId19"/>
          <a:stretch>
            <a:fillRect/>
          </a:stretch>
        </p:blipFill>
        <p:spPr>
          <a:xfrm>
            <a:off x="548640" y="4846320"/>
            <a:ext cx="1280160" cy="1280160"/>
          </a:xfrm>
          <a:prstGeom prst="rect">
            <a:avLst/>
          </a:prstGeom>
        </p:spPr>
      </p:pic>
      <p:pic>
        <p:nvPicPr>
          <p:cNvPr id="28" name="Picture 27" descr="Raw_FA_3_Subject_2_overlay.png"/>
          <p:cNvPicPr>
            <a:picLocks noChangeAspect="1"/>
          </p:cNvPicPr>
          <p:nvPr/>
        </p:nvPicPr>
        <p:blipFill>
          <a:blip r:embed="rId20"/>
          <a:stretch>
            <a:fillRect/>
          </a:stretch>
        </p:blipFill>
        <p:spPr>
          <a:xfrm>
            <a:off x="1874519" y="4846320"/>
            <a:ext cx="1280160" cy="1280160"/>
          </a:xfrm>
          <a:prstGeom prst="rect">
            <a:avLst/>
          </a:prstGeom>
        </p:spPr>
      </p:pic>
      <p:sp>
        <p:nvSpPr>
          <p:cNvPr id="29" name="TextBox 28"/>
          <p:cNvSpPr txBox="1"/>
          <p:nvPr/>
        </p:nvSpPr>
        <p:spPr>
          <a:xfrm>
            <a:off x="54864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Raw_FA_3_Subject_2</a:t>
            </a:r>
            <a:r>
              <a:rPr sz="1000" b="0" i="0">
                <a:solidFill>
                  <a:srgbClr val="5B6573"/>
                </a:solidFill>
                <a:latin typeface="Calibri"/>
              </a:rPr>
              <a:t>   OTHER 99.9%</a:t>
            </a:r>
          </a:p>
        </p:txBody>
      </p:sp>
      <p:pic>
        <p:nvPicPr>
          <p:cNvPr id="30" name="Picture 29" descr="Raw_FA_3_Subject_4_orig.png"/>
          <p:cNvPicPr>
            <a:picLocks noChangeAspect="1"/>
          </p:cNvPicPr>
          <p:nvPr/>
        </p:nvPicPr>
        <p:blipFill>
          <a:blip r:embed="rId21"/>
          <a:stretch>
            <a:fillRect/>
          </a:stretch>
        </p:blipFill>
        <p:spPr>
          <a:xfrm>
            <a:off x="3383280" y="4846320"/>
            <a:ext cx="1280160" cy="1280160"/>
          </a:xfrm>
          <a:prstGeom prst="rect">
            <a:avLst/>
          </a:prstGeom>
        </p:spPr>
      </p:pic>
      <p:pic>
        <p:nvPicPr>
          <p:cNvPr id="31" name="Picture 30" descr="Raw_FA_3_Subject_4_overlay.png"/>
          <p:cNvPicPr>
            <a:picLocks noChangeAspect="1"/>
          </p:cNvPicPr>
          <p:nvPr/>
        </p:nvPicPr>
        <p:blipFill>
          <a:blip r:embed="rId22"/>
          <a:stretch>
            <a:fillRect/>
          </a:stretch>
        </p:blipFill>
        <p:spPr>
          <a:xfrm>
            <a:off x="4709159" y="4846320"/>
            <a:ext cx="1280160" cy="1280160"/>
          </a:xfrm>
          <a:prstGeom prst="rect">
            <a:avLst/>
          </a:prstGeom>
        </p:spPr>
      </p:pic>
      <p:sp>
        <p:nvSpPr>
          <p:cNvPr id="32" name="TextBox 31"/>
          <p:cNvSpPr txBox="1"/>
          <p:nvPr/>
        </p:nvSpPr>
        <p:spPr>
          <a:xfrm>
            <a:off x="3383280" y="6172199"/>
            <a:ext cx="2606039" cy="365760"/>
          </a:xfrm>
          <a:prstGeom prst="rect">
            <a:avLst/>
          </a:prstGeom>
          <a:noFill/>
        </p:spPr>
        <p:txBody>
          <a:bodyPr wrap="square" lIns="0" tIns="0" rIns="0" bIns="0" anchor="t">
            <a:spAutoFit/>
          </a:bodyPr>
          <a:lstStyle/>
          <a:p>
            <a:pPr algn="ctr"/>
            <a:r>
              <a:rPr sz="1000" b="1" i="0">
                <a:solidFill>
                  <a:srgbClr val="1F2933"/>
                </a:solidFill>
                <a:latin typeface="Calibri"/>
              </a:rPr>
              <a:t>Raw_FA_3_Subject_4</a:t>
            </a:r>
            <a:r>
              <a:rPr sz="1000" b="0" i="0">
                <a:solidFill>
                  <a:srgbClr val="5B6573"/>
                </a:solidFill>
                <a:latin typeface="Calibri"/>
              </a:rPr>
              <a:t>   OTHER 99.8%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35</cp:revision>
  <dcterms:created xsi:type="dcterms:W3CDTF">2013-01-27T09:14:16Z</dcterms:created>
  <dcterms:modified xsi:type="dcterms:W3CDTF">2026-10-19T08:09:43Z</dcterms:modified>
  <cp:category/>
</cp:coreProperties>
</file>